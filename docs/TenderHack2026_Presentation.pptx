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0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ПЕРСОНАЛИЗИРОВАННЫЙ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E53935"/>
                </a:solidFill>
              </a:defRPr>
            </a:pPr>
            <a:r>
              <a:t>УМНЫЙ ПОИСК ПРОДУКЦИИ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99999"/>
                </a:solidFill>
              </a:defRPr>
            </a:pPr>
            <a:r>
              <a:t>Портал поставщиков — zakupki.mos.ru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114800"/>
            <a:ext cx="2743200" cy="36576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99999"/>
                </a:solidFill>
              </a:defRPr>
            </a:pPr>
            <a:r>
              <a:t>TenderHack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976D2"/>
                </a:solidFill>
              </a:defRPr>
            </a:pPr>
            <a:r>
              <a:t>tenderhack.extra.moscow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34059"/>
                </a:solidFill>
              </a:defRPr>
            </a:pPr>
            <a:r>
              <a:t>537 000 товаров. 4 190 организаций. Одна поисковая строка.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291840" cy="228600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4059"/>
                </a:solidFill>
              </a:defRPr>
            </a:pPr>
            <a:r>
              <a:t>Больница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Ищет «бумага»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059"/>
                </a:solidFill>
              </a:defRPr>
            </a:pPr>
            <a:r>
              <a:t>Нужна бумага для ЭКГ,</a:t>
            </a:r>
            <a:br/>
            <a:r>
              <a:t>термобумага, офисная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291840" cy="22860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4059"/>
                </a:solidFill>
              </a:defRPr>
            </a:pPr>
            <a:r>
              <a:t>Школа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Ищет «бумага»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1089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059"/>
                </a:solidFill>
              </a:defRPr>
            </a:pPr>
            <a:r>
              <a:t>Нужны бланки для грамот,</a:t>
            </a:r>
            <a:br/>
            <a:r>
              <a:t>сертификат-бумага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011680"/>
            <a:ext cx="3291840" cy="2286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4059"/>
                </a:solidFill>
              </a:defRPr>
            </a:pPr>
            <a:r>
              <a:t>Колледж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Ищет «бумага»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1089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059"/>
                </a:solidFill>
              </a:defRPr>
            </a:pPr>
            <a:r>
              <a:t>Нужна одноразовая посуда</a:t>
            </a:r>
            <a:br/>
            <a:r>
              <a:t>из ламинированной бумаги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53935"/>
                </a:solidFill>
              </a:defRPr>
            </a:pPr>
            <a:r>
              <a:t>Сегодня: все получают одинаковый результат — SvetoCopy A4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3A047"/>
                </a:solidFill>
              </a:defRPr>
            </a:pPr>
            <a:r>
              <a:t>Наша задача: каждый видит то, что нужно именно ему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РЕШЕНИЕ — 4 УРОВНЯ ИНТЕЛЛЕКТА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1188720"/>
            <a:ext cx="640080" cy="64008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Морфологический</a:t>
            </a:r>
            <a:br/>
            <a:r>
              <a:t>поиск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Русская морфология</a:t>
            </a:r>
            <a:br/>
            <a:r>
              <a:t>Subject extraction</a:t>
            </a:r>
            <a:br/>
            <a:r>
              <a:t>«ручка» ≠ «тачка с ручкой»</a:t>
            </a:r>
          </a:p>
        </p:txBody>
      </p:sp>
      <p:sp>
        <p:nvSpPr>
          <p:cNvPr id="10" name="Oval 9"/>
          <p:cNvSpPr/>
          <p:nvPr/>
        </p:nvSpPr>
        <p:spPr>
          <a:xfrm>
            <a:off x="4206240" y="1188720"/>
            <a:ext cx="640080" cy="64008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Опечатки</a:t>
            </a:r>
            <a:br/>
            <a:r>
              <a:t>и синонимы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490K словарь</a:t>
            </a:r>
            <a:br/>
            <a:r>
              <a:t>EN→RU раскладка</a:t>
            </a:r>
            <a:br/>
            <a:r>
              <a:t>123 правила синонимов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0" y="1188720"/>
            <a:ext cx="640080" cy="64008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Персонализация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Cold start из 2M контрактов</a:t>
            </a:r>
            <a:br/>
            <a:r>
              <a:t>4 190 профилей организаций</a:t>
            </a:r>
            <a:br/>
            <a:r>
              <a:t>Dynamic re-ranking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0" y="1188720"/>
            <a:ext cx="640080" cy="640080"/>
          </a:xfrm>
          <a:prstGeom prst="ellipse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AI-расширение</a:t>
            </a:r>
            <a:br/>
            <a:r>
              <a:t>(RAG)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Qwen 2.5 7B (Ollama)</a:t>
            </a:r>
            <a:br/>
            <a:r>
              <a:t>ES категории → LLM</a:t>
            </a:r>
            <a:br/>
            <a:r>
              <a:t>Нечёткие запросы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4059"/>
                </a:solidFill>
              </a:defRPr>
            </a:pPr>
            <a:r>
              <a:t>Качество поиска: 93% — релевантный результат в топ-5 (134 тестовых запроса)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ПРОЦЕСС ОБРАБОТКИ ЗАПРОСА (BPMN)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14400"/>
            <a:ext cx="11430000" cy="1188720"/>
          </a:xfrm>
          <a:prstGeom prst="rect">
            <a:avLst/>
          </a:prstGeom>
          <a:solidFill>
            <a:srgbClr val="E3F2FD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3268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34059"/>
                </a:solidFill>
              </a:defRPr>
            </a:pPr>
            <a:r>
              <a:t>Пользователь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286000"/>
            <a:ext cx="11430000" cy="1188720"/>
          </a:xfrm>
          <a:prstGeom prst="rect">
            <a:avLst/>
          </a:prstGeom>
          <a:solidFill>
            <a:srgbClr val="FBE9E7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30428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34059"/>
                </a:solidFill>
              </a:defRPr>
            </a:pPr>
            <a:r>
              <a:t>Backend (FastAPI)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657600"/>
            <a:ext cx="11430000" cy="1188720"/>
          </a:xfrm>
          <a:prstGeom prst="rect">
            <a:avLst/>
          </a:prstGeom>
          <a:solidFill>
            <a:srgbClr val="E8F5E9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367588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34059"/>
                </a:solidFill>
              </a:defRPr>
            </a:pPr>
            <a:r>
              <a:t>Elasticsearch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029200"/>
            <a:ext cx="11430000" cy="1188720"/>
          </a:xfrm>
          <a:prstGeom prst="rect">
            <a:avLst/>
          </a:prstGeom>
          <a:solidFill>
            <a:srgbClr val="FEF3E2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504748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34059"/>
                </a:solidFill>
              </a:defRPr>
            </a:pPr>
            <a:r>
              <a:t>Redis / PostgreSQL</a:t>
            </a:r>
          </a:p>
        </p:txBody>
      </p:sp>
      <p:sp>
        <p:nvSpPr>
          <p:cNvPr id="14" name="Oval 13"/>
          <p:cNvSpPr/>
          <p:nvPr/>
        </p:nvSpPr>
        <p:spPr>
          <a:xfrm>
            <a:off x="1645920" y="1325880"/>
            <a:ext cx="365760" cy="365760"/>
          </a:xfrm>
          <a:prstGeom prst="ellipse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00400" y="12344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Ввод запроса</a:t>
            </a:r>
            <a:br/>
            <a:r>
              <a:t>в строку поиска</a:t>
            </a:r>
          </a:p>
        </p:txBody>
      </p:sp>
      <p:sp>
        <p:nvSpPr>
          <p:cNvPr id="16" name="Oval 15"/>
          <p:cNvSpPr/>
          <p:nvPr/>
        </p:nvSpPr>
        <p:spPr>
          <a:xfrm>
            <a:off x="10515600" y="1325880"/>
            <a:ext cx="365760" cy="365760"/>
          </a:xfrm>
          <a:prstGeom prst="ellipse">
            <a:avLst/>
          </a:prstGeom>
          <a:solidFill>
            <a:srgbClr val="E53935"/>
          </a:solidFill>
          <a:ln w="381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645920" y="26060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Нормализация</a:t>
            </a:r>
            <a:br/>
            <a:r>
              <a:t>EN→RU раскладка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26060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Spell check</a:t>
            </a:r>
            <a:br/>
            <a:r>
              <a:t>490K словарь</a:t>
            </a:r>
          </a:p>
        </p:txBody>
      </p:sp>
      <p:sp>
        <p:nvSpPr>
          <p:cNvPr id="19" name="Diamond 18"/>
          <p:cNvSpPr/>
          <p:nvPr/>
        </p:nvSpPr>
        <p:spPr>
          <a:xfrm>
            <a:off x="5120640" y="2628900"/>
            <a:ext cx="502920" cy="502920"/>
          </a:xfrm>
          <a:prstGeom prst="diamond">
            <a:avLst/>
          </a:prstGeom>
          <a:solidFill>
            <a:srgbClr val="FFF9C4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>
                <a:solidFill>
                  <a:srgbClr val="334059"/>
                </a:solidFill>
              </a:defRPr>
            </a:pPr>
            <a:r>
              <a:t>≤6?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Prefix поиск</a:t>
            </a:r>
            <a:br/>
            <a:r>
              <a:t>subject.raw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292608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Multi-match</a:t>
            </a:r>
            <a:br/>
            <a:r>
              <a:t>4 стратегии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26060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Function score</a:t>
            </a:r>
            <a:br/>
            <a:r>
              <a:t>+ бусты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0" y="26060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RAG</a:t>
            </a:r>
            <a:br/>
            <a:r>
              <a:t>LLM (Ollama)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39776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BM25 + fuzzy</a:t>
            </a:r>
            <a:br/>
            <a:r>
              <a:t>synonyms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39776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Aggregation</a:t>
            </a:r>
            <a:br/>
            <a:r>
              <a:t>категорий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39776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Filtered</a:t>
            </a:r>
            <a:br/>
            <a:r>
              <a:t>search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45920" y="53492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Cold start</a:t>
            </a:r>
            <a:br/>
            <a:r>
              <a:t>PG → Redis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53492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Product</a:t>
            </a:r>
            <a:br/>
            <a:r>
              <a:t>boosts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0" y="53492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Category</a:t>
            </a:r>
            <a:br/>
            <a:r>
              <a:t>boosts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53492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Track events</a:t>
            </a:r>
            <a:br/>
            <a:r>
              <a:t>log + session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11680" y="1496060"/>
            <a:ext cx="118872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228580" y="1508760"/>
            <a:ext cx="25400" cy="13716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27780" y="1783080"/>
            <a:ext cx="25400" cy="82296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73300" y="1783080"/>
            <a:ext cx="25400" cy="82296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926080" y="2867660"/>
            <a:ext cx="27432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480560" y="2867660"/>
            <a:ext cx="64008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23560" y="2730500"/>
            <a:ext cx="22860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23560" y="3004820"/>
            <a:ext cx="22860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119620" y="2560320"/>
            <a:ext cx="25400" cy="3200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119620" y="2880360"/>
            <a:ext cx="25400" cy="3200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86800" y="2867660"/>
            <a:ext cx="27432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79540" y="3474720"/>
            <a:ext cx="25400" cy="50292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34020" y="3154680"/>
            <a:ext cx="25400" cy="82296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588500" y="3154680"/>
            <a:ext cx="25400" cy="82296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32320" y="4239260"/>
            <a:ext cx="27432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86800" y="4239260"/>
            <a:ext cx="27432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73300" y="3154680"/>
            <a:ext cx="25400" cy="219456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88500" y="3154680"/>
            <a:ext cx="25400" cy="219456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26080" y="5610860"/>
            <a:ext cx="27432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80560" y="5610860"/>
            <a:ext cx="27432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57800" y="210312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43A047"/>
                </a:solidFill>
              </a:defRPr>
            </a:pPr>
            <a:r>
              <a:t>Да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7800" y="324612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E53935"/>
                </a:solidFill>
              </a:defRPr>
            </a:pPr>
            <a:r>
              <a:t>Нет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ПЕРСОНАЛИЗАЦИЯ В ДЕЙСТВИИ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4059"/>
                </a:solidFill>
              </a:defRPr>
            </a:pPr>
            <a:r>
              <a:t>Один запрос «бумага» — три разных результата: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474720" cy="38404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976D2"/>
                </a:solidFill>
              </a:defRPr>
            </a:pPr>
            <a:r>
              <a:t>Школа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ИНН: 5003021368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4059"/>
                </a:solidFill>
              </a:defRPr>
            </a:pPr>
            <a:r>
              <a:t>Результаты: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1. Дизайн-бумага Металлик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46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2. Сертификат-бумага Attache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3. Бумага для творчества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206240"/>
            <a:ext cx="2926080" cy="1828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976D2"/>
                </a:solidFill>
              </a:defRPr>
            </a:pPr>
            <a:r>
              <a:t>Почему: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663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Бланки для грамот</a:t>
            </a:r>
            <a:br/>
            <a:r>
              <a:t>и сертификатов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1645920"/>
            <a:ext cx="3474720" cy="38404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1999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53935"/>
                </a:solidFill>
              </a:defRPr>
            </a:pPr>
            <a:r>
              <a:t>Колледж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ИНН: 7716237684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4059"/>
                </a:solidFill>
              </a:defRPr>
            </a:pPr>
            <a:r>
              <a:t>Результаты: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999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1. Тарелка из ламинированной бумаги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1999" y="3246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2. Стакан бумажный одноразовый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1999" y="3611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3. Ролик подачи бумаги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1999" y="4206240"/>
            <a:ext cx="2926080" cy="1828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1999" y="4389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3935"/>
                </a:solidFill>
              </a:defRPr>
            </a:pPr>
            <a:r>
              <a:t>Почему: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1999" y="4663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Столовая + расходники</a:t>
            </a:r>
            <a:br/>
            <a:r>
              <a:t>для принтеров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1645920"/>
            <a:ext cx="3474720" cy="38404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39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3A047"/>
                </a:solidFill>
              </a:defRPr>
            </a:pPr>
            <a:r>
              <a:t>Больница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39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ИНН: 7734091519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39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4059"/>
                </a:solidFill>
              </a:defRPr>
            </a:pPr>
            <a:r>
              <a:t>Результаты: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39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1. SvetoCopy Classic А4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39" y="3246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2. SvetoCopy (А4, 80 г/кв.м)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39" y="3611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3. ОФИСМАГ СТАНДАРТ А4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39" y="4206240"/>
            <a:ext cx="2926080" cy="18288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39" y="4389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3A047"/>
                </a:solidFill>
              </a:defRPr>
            </a:pPr>
            <a:r>
              <a:t>Почему: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39" y="4663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Стандартная</a:t>
            </a:r>
            <a:br/>
            <a:r>
              <a:t>офисная бумага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Персонализация подсказок тоже работает — автокомплит учитывает профиль организации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КЛЮЧЕВЫЕ ПОКАЗАТЕЛИ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115568"/>
            <a:ext cx="2157984" cy="914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34059"/>
                </a:solidFill>
              </a:defRPr>
            </a:pPr>
            <a:r>
              <a:t>537 314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66666"/>
                </a:solidFill>
              </a:defRPr>
            </a:pPr>
            <a:r>
              <a:t>Товаров проиндексировано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1097280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35808" y="1115568"/>
            <a:ext cx="2157984" cy="914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34059"/>
                </a:solidFill>
              </a:defRPr>
            </a:pPr>
            <a:r>
              <a:t>2 009 457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965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66666"/>
                </a:solidFill>
              </a:defRPr>
            </a:pPr>
            <a:r>
              <a:t>Контрактов проанализировано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1097280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04688" y="1115568"/>
            <a:ext cx="2157984" cy="9144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34059"/>
                </a:solidFill>
              </a:defRPr>
            </a:pPr>
            <a:r>
              <a:t>4 190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1965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66666"/>
                </a:solidFill>
              </a:defRPr>
            </a:pPr>
            <a:r>
              <a:t>Организаций с профилями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1097280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7" y="1115568"/>
            <a:ext cx="2157984" cy="9144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9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34059"/>
                </a:solidFill>
              </a:defRPr>
            </a:pPr>
            <a:r>
              <a:t>490 204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1965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66666"/>
                </a:solidFill>
              </a:defRPr>
            </a:pPr>
            <a:r>
              <a:t>Терминов в словаре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24160" y="1097280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442448" y="1115568"/>
            <a:ext cx="2157984" cy="914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9848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34059"/>
                </a:solidFill>
              </a:defRPr>
            </a:pPr>
            <a:r>
              <a:t>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1965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66666"/>
                </a:solidFill>
              </a:defRPr>
            </a:pPr>
            <a:r>
              <a:t>Качество поиска (топ-5)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4059"/>
                </a:solidFill>
              </a:defRPr>
            </a:pPr>
            <a:r>
              <a:t>Метрики качества поиска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MRR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337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Позиция первого релевантного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337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0.5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749039"/>
            <a:ext cx="10515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3794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Precision@10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379475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Доля полезных в топ-10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79475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40%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CTR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4251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Клики / поисковые запросы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4251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30%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4663440"/>
            <a:ext cx="10515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709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Session Success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4709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Сессий с кликом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709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50%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5120640"/>
            <a:ext cx="1051560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166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Bounce 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5166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Быстрый возврат с карточки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5166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&lt; 30%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5577840"/>
            <a:ext cx="10515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623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Personalization Lift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623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Улучшение CTR при персонализации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5623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10%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2688" y="1463040"/>
            <a:ext cx="73152" cy="128016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React SPA</a:t>
            </a:r>
            <a:br/>
            <a:r>
              <a:t>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Frontend</a:t>
            </a:r>
            <a:br/>
            <a:r>
              <a:t>UI, карточки, корзина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088" y="1463040"/>
            <a:ext cx="73152" cy="12801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FastAPI</a:t>
            </a:r>
            <a:br/>
            <a:r>
              <a:t>Python 3.12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1031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Backend</a:t>
            </a:r>
            <a:br/>
            <a:r>
              <a:t>API, персонализация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47472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32688" y="3566160"/>
            <a:ext cx="73152" cy="128016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611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Elasticsearch</a:t>
            </a:r>
            <a:br/>
            <a:r>
              <a:t>8.17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2062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537K docs</a:t>
            </a:r>
            <a:br/>
            <a:r>
              <a:t>BM25, fuzzy, synonyms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347472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38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33088" y="3566160"/>
            <a:ext cx="73152" cy="1280160"/>
          </a:xfrm>
          <a:prstGeom prst="rect">
            <a:avLst/>
          </a:prstGeom>
          <a:solidFill>
            <a:srgbClr val="DC3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611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Redis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2062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Profiles, cache</a:t>
            </a:r>
            <a:br/>
            <a:r>
              <a:t>events, cart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347472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33488" y="3566160"/>
            <a:ext cx="73152" cy="128016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0" y="3611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PostgreSQL</a:t>
            </a:r>
            <a:br/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2062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2M contracts</a:t>
            </a:r>
            <a:br/>
            <a:r>
              <a:t>metrics, sessions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37160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33488" y="1463040"/>
            <a:ext cx="73152" cy="128016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Ollama</a:t>
            </a:r>
            <a:br/>
            <a:r>
              <a:t>Qwen 2.5 7B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21031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AI expansion</a:t>
            </a:r>
            <a:br/>
            <a:r>
              <a:t>RAG-поиск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</a:defRPr>
            </a:pPr>
            <a:r>
              <a:t>Caddy (HTTPS, reverse proxy)  |  SonarQube (Quality Gate: OK)  |  Docker Compose  |  32 CPU, 125GB RAM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0" y="2090420"/>
            <a:ext cx="64008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82260" y="2834640"/>
            <a:ext cx="25400" cy="64008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81860" y="2834640"/>
            <a:ext cx="25400" cy="64008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0" y="2090420"/>
            <a:ext cx="64008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675120" y="4193540"/>
            <a:ext cx="64008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КЛЮЧЕВЫЕ ИННОВАЦИИ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4114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Subject Extraction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09728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Морфоанализ pymorphy3 выделяет ПРЕДМЕТ товара из названия. «Ручка» ≠ «тачка с ручкой». Падежи, сокращения, предлоги — всё учтено.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94559"/>
            <a:ext cx="411480" cy="4114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48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Двухрежимный поиск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48839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Short (≤6 символов): prefix по subject.raw. Full: 4 параллельных стратегии (fuzzy + phrase×2 + AND). Оптимальная обработка каждого типа запроса.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46120"/>
            <a:ext cx="411480" cy="41148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200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Cold 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20040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4 190 организаций получают персонализацию с первого визита. 2M контрактов → предагрегированные buyer_category_weights → Redis за O(1).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97679"/>
            <a:ext cx="411480" cy="411480"/>
          </a:xfrm>
          <a:prstGeom prst="round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519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RAG через Ollama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251959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LLM (Qwen 2.5 7B) + реальные категории из ES индекса. «Медицинские перчатки» → нитриловые, хирургические, латексные. Не галлюцинирует.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49240"/>
            <a:ext cx="411480" cy="411480"/>
          </a:xfrm>
          <a:prstGeom prst="roundRect">
            <a:avLst/>
          </a:prstGeom>
          <a:solidFill>
            <a:srgbClr val="F570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Bounce Rate Tracking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3035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Открытие карточки &lt; 3 сек → негативный сигнал quick_return. 5 типов событий с весами (view 2.0, click 3.0, cart 5.0). Temporal decay 0.95/день.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СИГНАЛЫ РАНЖИРОВАНИЯ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3A047"/>
                </a:solidFill>
              </a:defRPr>
            </a:pPr>
            <a:r>
              <a:t>ПОЗИТИВНЫЕ (повышают позицию)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029200" cy="4572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50292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Совпадение с предметом товара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Subject extraction: поиск «ручка» → товары где ручка = предмет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874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3A047"/>
                </a:solidFill>
              </a:defRPr>
            </a:pPr>
            <a:r>
              <a:t>x5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23160"/>
            <a:ext cx="5029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Точная фраза в названии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974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match_phrase slop:1 — «100 листов» выше «500 листов»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5146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3A047"/>
                </a:solidFill>
              </a:defRPr>
            </a:pPr>
            <a:r>
              <a:t>x20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063239"/>
            <a:ext cx="50292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0895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История закупок организации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337559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Cold start из контрактов: школа → бланки, больница → офисная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15467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3A047"/>
                </a:solidFill>
              </a:defRPr>
            </a:pPr>
            <a:r>
              <a:t>x1.05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703320"/>
            <a:ext cx="5029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7490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Добавлен в корзину / избранное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9776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Event cart (вес 5.0) → мгновенный product boost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7947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3A047"/>
                </a:solidFill>
              </a:defRPr>
            </a:pPr>
            <a:r>
              <a:t>x2.0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343400"/>
            <a:ext cx="50292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891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Просмотр карточки &gt; 3 сек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617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Event view (вес 2.0) — заинтересовался, не bounce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44348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3A047"/>
                </a:solidFill>
              </a:defRPr>
            </a:pPr>
            <a:r>
              <a:t>x1.5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983480"/>
            <a:ext cx="5029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0292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Популярность (кол-во контрактов)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2578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log2p(popularity) — мягкий множитель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50749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3A047"/>
                </a:solidFill>
              </a:defRPr>
            </a:pPr>
            <a:r>
              <a:t>x1-3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53935"/>
                </a:solidFill>
              </a:defRPr>
            </a:pPr>
            <a:r>
              <a:t>НЕГАТИВНЫЕ (понижают / исключают)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1554480"/>
            <a:ext cx="5029200" cy="457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0" y="1783080"/>
            <a:ext cx="5029200" cy="548640"/>
          </a:xfrm>
          <a:prstGeom prst="rect">
            <a:avLst/>
          </a:prstGeom>
          <a:solidFill>
            <a:srgbClr val="FE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18288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Отрицание в запросе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20574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«не маслянных», «без латексных», «кроме» → must_not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1874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E53935"/>
                </a:solidFill>
              </a:defRPr>
            </a:pPr>
            <a:r>
              <a:t>Исключ.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423160"/>
            <a:ext cx="5029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24688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Bounce (&lt; 3 сек на карточке)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26974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Event quick_return — закрыл карточку быстро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25146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E53935"/>
                </a:solidFill>
              </a:defRPr>
            </a:pPr>
            <a:r>
              <a:t>-сигнал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063239"/>
            <a:ext cx="5029200" cy="548640"/>
          </a:xfrm>
          <a:prstGeom prst="rect">
            <a:avLst/>
          </a:prstGeom>
          <a:solidFill>
            <a:srgbClr val="FE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0" y="310895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Слово — атрибут, не предмет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3337559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«тачка с ручкой» → subject=тачка, ручка не предмет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315467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E53935"/>
                </a:solidFill>
              </a:defRPr>
            </a:pPr>
            <a:r>
              <a:t>x0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3703320"/>
            <a:ext cx="5029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0" y="37490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Temporal decay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9776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DECAY_FACTOR = 0.95 на каждый день давности события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0" y="3794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E53935"/>
                </a:solidFill>
              </a:defRPr>
            </a:pPr>
            <a:r>
              <a:t>×0.95/д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4343400"/>
            <a:ext cx="5029200" cy="548640"/>
          </a:xfrm>
          <a:prstGeom prst="rect">
            <a:avLst/>
          </a:prstGeom>
          <a:solidFill>
            <a:srgbClr val="FE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0" y="43891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Историческая vs live-данные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617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Контракты из PG дисконтируются ×0.7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41280" y="4434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E53935"/>
                </a:solidFill>
              </a:defRPr>
            </a:pPr>
            <a:r>
              <a:t>×0.7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66666"/>
                </a:solidFill>
              </a:defRPr>
            </a:pPr>
            <a:r>
              <a:t>Формула: Score = BM25(strategies) x Popularity(log2p) x ProductBoost(1-2) x CategoryBoost(1-1.05) + SubjectExact(+15) + SubjectFuzzy(+12)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0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t>СПАСИБО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377440"/>
            <a:ext cx="2743200" cy="36576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</a:defRPr>
            </a:pPr>
            <a:r>
              <a:t>Демо: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926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76D2"/>
                </a:solidFill>
              </a:defRPr>
            </a:pPr>
            <a:r>
              <a:t>tenderhack.extra.moscow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29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</a:defRPr>
            </a:pPr>
            <a:r>
              <a:t>SonarQube: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429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76D2"/>
                </a:solidFill>
              </a:defRPr>
            </a:pPr>
            <a:r>
              <a:t>tenderhack.extra.moscow/sonar/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</a:defRPr>
            </a:pPr>
            <a:r>
              <a:t>GitHub: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931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76D2"/>
                </a:solidFill>
              </a:defRPr>
            </a:pPr>
            <a:r>
              <a:t>github.com/Shadowru/tenderhack2026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537K товаров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2M контрактов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4190 профилей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93% качество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30мс 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TenderHack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