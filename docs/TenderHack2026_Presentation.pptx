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ПЕРСОНАЛИЗИРОВАННЫЙ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53935"/>
                </a:solidFill>
              </a:defRPr>
            </a:pPr>
            <a:r>
              <a:t>УМНЫЙ ПОИСК ПРОДУКЦИИ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99999"/>
                </a:solidFill>
              </a:defRPr>
            </a:pPr>
            <a:r>
              <a:t>Портал поставщиков — zakupki.mos.ru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34059"/>
                </a:solidFill>
              </a:defRPr>
            </a:pPr>
            <a:r>
              <a:t>537 000 товаров. 4 190 организаций. Одна поисковая строка.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22860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Больница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бумага для ЭКГ,</a:t>
            </a:r>
            <a:br/>
            <a:r>
              <a:t>термобумага, офисная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291840" cy="22860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Школа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Нужны бланки для грамот,</a:t>
            </a:r>
            <a:br/>
            <a:r>
              <a:t>сертификат-бумага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2286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4059"/>
                </a:solidFill>
              </a:defRPr>
            </a:pPr>
            <a:r>
              <a:t>Колледж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Ищет «бумага»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059"/>
                </a:solidFill>
              </a:defRPr>
            </a:pPr>
            <a:r>
              <a:t>Нужна одноразовая посуда</a:t>
            </a:r>
            <a:br/>
            <a:r>
              <a:t>из ламинированной бумаги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</a:defRPr>
            </a:pPr>
            <a:r>
              <a:t>Сегодня: все получают одинаковый результат — SvetoCopy A4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3A047"/>
                </a:solidFill>
              </a:defRPr>
            </a:pPr>
            <a:r>
              <a:t>Наша задача: каждый видит то, что нужно именно ему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РЕШЕНИЕ — 4 УРОВНЯ ИНТЕЛЛЕКТА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1188720"/>
            <a:ext cx="640080" cy="64008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Морфологический</a:t>
            </a:r>
            <a:br/>
            <a:r>
              <a:t>поиск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Русская морфология</a:t>
            </a:r>
            <a:br/>
            <a:r>
              <a:t>Subject extraction</a:t>
            </a:r>
            <a:br/>
            <a:r>
              <a:t>«ручка» ≠ «тачка с ручкой»</a:t>
            </a:r>
          </a:p>
        </p:txBody>
      </p:sp>
      <p:sp>
        <p:nvSpPr>
          <p:cNvPr id="10" name="Oval 9"/>
          <p:cNvSpPr/>
          <p:nvPr/>
        </p:nvSpPr>
        <p:spPr>
          <a:xfrm>
            <a:off x="4206240" y="118872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Опечатки</a:t>
            </a:r>
            <a:br/>
            <a:r>
              <a:t>и синонимы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490K словарь</a:t>
            </a:r>
            <a:br/>
            <a:r>
              <a:t>EN→RU раскладка</a:t>
            </a:r>
            <a:br/>
            <a:r>
              <a:t>123 правила синонимов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0" y="118872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Персонализация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Cold start из 2M контрактов</a:t>
            </a:r>
            <a:br/>
            <a:r>
              <a:t>4 190 профилей организаций</a:t>
            </a:r>
            <a:br/>
            <a:r>
              <a:t>Dynamic re-ranking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0" y="1188720"/>
            <a:ext cx="640080" cy="6400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11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059"/>
                </a:solidFill>
              </a:defRPr>
            </a:pPr>
            <a:r>
              <a:t>AI-расширение</a:t>
            </a:r>
            <a:br/>
            <a:r>
              <a:t>(RAG)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743200"/>
            <a:ext cx="2560320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9260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Qwen 2.5 7B (Ollama)</a:t>
            </a:r>
            <a:br/>
            <a:r>
              <a:t>ES категории → LLM</a:t>
            </a:r>
            <a:br/>
            <a:r>
              <a:t>Нечёткие запросы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4059"/>
                </a:solidFill>
              </a:defRPr>
            </a:pPr>
            <a:r>
              <a:t>Качество поиска: 93% — релевантный результат в топ-5 (134 тестовых запроса)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ПРОЦЕСС ОБРАБОТКИ ЗАПРОСА (BPMN)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10972800" cy="1280160"/>
          </a:xfrm>
          <a:prstGeom prst="rect">
            <a:avLst/>
          </a:prstGeom>
          <a:solidFill>
            <a:srgbClr val="E3F2FD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34059"/>
                </a:solidFill>
              </a:defRPr>
            </a:pPr>
            <a:r>
              <a:t>Пользователь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10972800" cy="1280160"/>
          </a:xfrm>
          <a:prstGeom prst="rect">
            <a:avLst/>
          </a:prstGeom>
          <a:solidFill>
            <a:srgbClr val="FBE9E7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34059"/>
                </a:solidFill>
              </a:defRPr>
            </a:pPr>
            <a:r>
              <a:t>Backend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E8F5E9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34059"/>
                </a:solidFill>
              </a:defRPr>
            </a:pPr>
            <a:r>
              <a:t>Elasticsearch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303520"/>
            <a:ext cx="10972800" cy="1280160"/>
          </a:xfrm>
          <a:prstGeom prst="rect">
            <a:avLst/>
          </a:prstGeom>
          <a:solidFill>
            <a:srgbClr val="FEF3E2"/>
          </a:solidFill>
          <a:ln w="1270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34059"/>
                </a:solidFill>
              </a:defRPr>
            </a:pPr>
            <a:r>
              <a:t>Redis / PG</a:t>
            </a:r>
          </a:p>
        </p:txBody>
      </p:sp>
      <p:sp>
        <p:nvSpPr>
          <p:cNvPr id="14" name="Oval 13"/>
          <p:cNvSpPr/>
          <p:nvPr/>
        </p:nvSpPr>
        <p:spPr>
          <a:xfrm>
            <a:off x="1828800" y="1234440"/>
            <a:ext cx="411480" cy="4114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0" y="1143000"/>
            <a:ext cx="11887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Ввод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1417320"/>
            <a:ext cx="32004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60320" y="260604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Нормализация</a:t>
            </a:r>
            <a:br/>
            <a:r>
              <a:t>раскладка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260604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Spell check</a:t>
            </a:r>
            <a:br/>
            <a:r>
              <a:t>490K словарь</a:t>
            </a:r>
          </a:p>
        </p:txBody>
      </p:sp>
      <p:sp>
        <p:nvSpPr>
          <p:cNvPr id="19" name="Diamond 18"/>
          <p:cNvSpPr/>
          <p:nvPr/>
        </p:nvSpPr>
        <p:spPr>
          <a:xfrm>
            <a:off x="4983480" y="2514600"/>
            <a:ext cx="548640" cy="548640"/>
          </a:xfrm>
          <a:prstGeom prst="diamond">
            <a:avLst/>
          </a:prstGeom>
          <a:solidFill>
            <a:srgbClr val="FFF9C4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>
                <a:solidFill>
                  <a:srgbClr val="334059"/>
                </a:solidFill>
              </a:defRPr>
            </a:pPr>
            <a:r>
              <a:t>≤6</a:t>
            </a:r>
            <a:br/>
            <a:r>
              <a:t>симв?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2423160"/>
            <a:ext cx="109728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Prefix</a:t>
            </a:r>
            <a:br/>
            <a:r>
              <a:t>subject.raw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2971800"/>
            <a:ext cx="109728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Multi-match</a:t>
            </a:r>
            <a:br/>
            <a:r>
              <a:t>4 стратегии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606040"/>
            <a:ext cx="109728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Function</a:t>
            </a:r>
            <a:br/>
            <a:r>
              <a:t>score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60604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RAG</a:t>
            </a:r>
            <a:br/>
            <a:r>
              <a:t>LLM (Ollama)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60604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Формирование</a:t>
            </a:r>
            <a:br/>
            <a:r>
              <a:t>ответа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4069080"/>
            <a:ext cx="109728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BM25 + fuzzy</a:t>
            </a:r>
            <a:br/>
            <a:r>
              <a:t>+ synonyms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406908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Category</a:t>
            </a:r>
            <a:br/>
            <a:r>
              <a:t>aggregation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0" y="406908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Filtered</a:t>
            </a:r>
            <a:br/>
            <a:r>
              <a:t>search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49039" y="553212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Cold start</a:t>
            </a:r>
            <a:br/>
            <a:r>
              <a:t>PG → Redis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553212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Product</a:t>
            </a:r>
            <a:br/>
            <a:r>
              <a:t>boosts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553212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Category</a:t>
            </a:r>
            <a:br/>
            <a:r>
              <a:t>boosts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0" y="5532120"/>
            <a:ext cx="10058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>
                <a:solidFill>
                  <a:srgbClr val="334059"/>
                </a:solidFill>
              </a:defRPr>
            </a:pPr>
            <a:r>
              <a:t>Track event</a:t>
            </a:r>
            <a:br/>
            <a:r>
              <a:t>log</a:t>
            </a:r>
          </a:p>
        </p:txBody>
      </p:sp>
      <p:sp>
        <p:nvSpPr>
          <p:cNvPr id="32" name="Oval 31"/>
          <p:cNvSpPr/>
          <p:nvPr/>
        </p:nvSpPr>
        <p:spPr>
          <a:xfrm>
            <a:off x="10835640" y="1234440"/>
            <a:ext cx="411480" cy="411480"/>
          </a:xfrm>
          <a:prstGeom prst="ellipse">
            <a:avLst/>
          </a:prstGeom>
          <a:solidFill>
            <a:srgbClr val="E53935"/>
          </a:solidFill>
          <a:ln w="381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063240" y="1645920"/>
            <a:ext cx="0" cy="96012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680960" y="3108960"/>
            <a:ext cx="0" cy="96012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29200" y="3108960"/>
            <a:ext cx="0" cy="242316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04120" y="3108960"/>
            <a:ext cx="0" cy="219456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104120" y="1417320"/>
            <a:ext cx="73152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749039" y="1417320"/>
            <a:ext cx="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66160" y="2834640"/>
            <a:ext cx="182879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54880" y="2834640"/>
            <a:ext cx="2286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32120" y="2651760"/>
            <a:ext cx="2286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32120" y="3200400"/>
            <a:ext cx="22860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858000" y="2834640"/>
            <a:ext cx="27432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229600" y="2834640"/>
            <a:ext cx="1828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18320" y="2834640"/>
            <a:ext cx="1828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418320" y="4297680"/>
            <a:ext cx="1828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29600" y="4297680"/>
            <a:ext cx="1828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5760720"/>
            <a:ext cx="36576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486400" y="5760720"/>
            <a:ext cx="27432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ПЕРСОНАЛИЗАЦИЯ В ДЕЙСТВИИ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Один запрос «бумага» — три разных результата: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38404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976D2"/>
                </a:solidFill>
              </a:defRPr>
            </a:pPr>
            <a:r>
              <a:t>Школа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5003021368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Дизайн-бумага Металлик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Сертификат-бумага Attache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Бумага для творчества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29260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976D2"/>
                </a:solidFill>
              </a:defRPr>
            </a:pPr>
            <a:r>
              <a:t>Почему: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Бланки для грамот</a:t>
            </a:r>
            <a:br/>
            <a:r>
              <a:t>и сертификатов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474720" cy="384048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</a:defRPr>
            </a:pPr>
            <a:r>
              <a:t>Колледж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7716237684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Тарелка из ламинированной бумаги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Стакан бумажный одноразовый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Ролик подачи бумаги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1999" y="4206240"/>
            <a:ext cx="2926080" cy="1828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3935"/>
                </a:solidFill>
              </a:defRPr>
            </a:pPr>
            <a:r>
              <a:t>Почему: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Столовая + расходники</a:t>
            </a:r>
            <a:br/>
            <a:r>
              <a:t>для принтеров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1645920"/>
            <a:ext cx="3474720" cy="3840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9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</a:defRPr>
            </a:pPr>
            <a:r>
              <a:t>Больница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ИНН: 7734091519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39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4059"/>
                </a:solidFill>
              </a:defRPr>
            </a:pPr>
            <a:r>
              <a:t>Результаты: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1. SvetoCopy Classic А4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9" y="3246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2. SvetoCopy (А4, 80 г/кв.м)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4059"/>
                </a:solidFill>
              </a:defRPr>
            </a:pPr>
            <a:r>
              <a:t>  3. ОФИСМАГ СТАНДАРТ А4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39" y="4206240"/>
            <a:ext cx="2926080" cy="1828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39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3A047"/>
                </a:solidFill>
              </a:defRPr>
            </a:pPr>
            <a:r>
              <a:t>Почему: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9" y="4663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Стандартная</a:t>
            </a:r>
            <a:br/>
            <a:r>
              <a:t>офисная бумага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Персонализация подсказок тоже работает — автокомплит учитывает профиль организации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КЛЮЧЕВЫЕ ПОКАЗАТЕЛИ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115568"/>
            <a:ext cx="2157984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537 314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Товаров проиндексировано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35808" y="1115568"/>
            <a:ext cx="2157984" cy="5486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2 009 457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Контрактов проанализировано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4688" y="1115568"/>
            <a:ext cx="2157984" cy="54864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4 190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Организаций с профилями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7" y="1115568"/>
            <a:ext cx="2157984" cy="54864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490 204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Терминов в словаре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1097280"/>
            <a:ext cx="21945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42448" y="1115568"/>
            <a:ext cx="2157984" cy="54864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4059"/>
                </a:solidFill>
              </a:defRPr>
            </a:pPr>
            <a: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1874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Качество поиска (топ-5)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4059"/>
                </a:solidFill>
              </a:defRPr>
            </a:pPr>
            <a:r>
              <a:t>Метрики качества поиска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MRR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337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Позиция первого релевантного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0.5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49039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Precision@10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7947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Доля полезных в топ-10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7947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40%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CTR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Клики / поисковые запросы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4251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6634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709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Session Success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709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Сессий с кликом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5120640"/>
            <a:ext cx="1051560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166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Bounce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166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Быстрый возврат с карточки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&lt; 30%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577840"/>
            <a:ext cx="10515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623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4059"/>
                </a:solidFill>
              </a:defRPr>
            </a:pPr>
            <a:r>
              <a:t>Personalization 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623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Улучшение CTR при персонализации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623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43A047"/>
                </a:solidFill>
              </a:defRPr>
            </a:pPr>
            <a:r>
              <a:t>&gt; 10%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146304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React SPA</a:t>
            </a:r>
            <a:br/>
            <a:r>
              <a:t>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Frontend</a:t>
            </a:r>
            <a:br/>
            <a:r>
              <a:t>UI, карточки, корзина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8" y="1463040"/>
            <a:ext cx="73152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FastAPI</a:t>
            </a:r>
            <a:br/>
            <a:r>
              <a:t>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Backend</a:t>
            </a:r>
            <a:br/>
            <a:r>
              <a:t>API, персонализация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" y="3566160"/>
            <a:ext cx="73152" cy="12801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Elasticsearch</a:t>
            </a:r>
            <a:br/>
            <a:r>
              <a:t>8.17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537K docs</a:t>
            </a:r>
            <a:br/>
            <a:r>
              <a:t>BM25, fuzzy, synonyms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38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33088" y="3566160"/>
            <a:ext cx="73152" cy="1280160"/>
          </a:xfrm>
          <a:prstGeom prst="rect">
            <a:avLst/>
          </a:prstGeom>
          <a:solidFill>
            <a:srgbClr val="DC3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Redis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Profiles, cache</a:t>
            </a:r>
            <a:br/>
            <a:r>
              <a:t>events, cart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347472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3566160"/>
            <a:ext cx="73152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0" y="3611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PostgreSQL</a:t>
            </a:r>
            <a:br/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206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2M contracts</a:t>
            </a:r>
            <a:br/>
            <a:r>
              <a:t>metrics, sessions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371600"/>
            <a:ext cx="25603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33488" y="1463040"/>
            <a:ext cx="73152" cy="128016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4059"/>
                </a:solidFill>
              </a:defRPr>
            </a:pPr>
            <a:r>
              <a:t>Ollama</a:t>
            </a:r>
            <a:br/>
            <a:r>
              <a:t>Qwen 2.5 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1031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AI expansion</a:t>
            </a:r>
            <a:br/>
            <a:r>
              <a:t>RAG-поиск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</a:defRPr>
            </a:pPr>
            <a:r>
              <a:t>Caddy (HTTPS, reverse proxy)  |  SonarQube (Quality Gate: OK)  |  Docker Compose  |  32 CPU, 125GB RAM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74720" y="2103120"/>
            <a:ext cx="6400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0" y="2834640"/>
            <a:ext cx="0" cy="64008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94560" y="2834640"/>
            <a:ext cx="0" cy="64008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675120" y="2103120"/>
            <a:ext cx="6400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75120" y="4206240"/>
            <a:ext cx="640080" cy="0"/>
          </a:xfrm>
          <a:prstGeom prst="line">
            <a:avLst/>
          </a:prstGeom>
          <a:ln w="190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28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4059"/>
                </a:solidFill>
              </a:defRPr>
            </a:pPr>
            <a:r>
              <a:t>КЛЮЧЕВЫЕ ИННОВАЦИИ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85800"/>
            <a:ext cx="106984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114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Subject Extraction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9728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Морфоанализ pymorphy3 выделяет ПРЕДМЕТ товара из названия. «Ручка» ≠ «тачка с ручкой». Падежи, сокращения, предлоги — всё учтено.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59"/>
            <a:ext cx="411480" cy="4114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Двухрежимный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3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Short (≤6 символов): prefix по subject.raw. Full: 4 параллельных стратегии (fuzzy + phrase×2 + AND). Оптимальная обработка каждого типа запроса.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46120"/>
            <a:ext cx="411480" cy="4114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Cold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00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4 190 организаций получают персонализацию с первого визита. 2M контрактов → предагрегированные buyer_category_weights → Redis за O(1).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97679"/>
            <a:ext cx="411480" cy="411480"/>
          </a:xfrm>
          <a:prstGeom prst="round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519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RAG через Ollama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251959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LLM (Qwen 2.5 7B) + реальные категории из ES индекса. «Медицинские перчатки» → нитриловые, хирургические, латексные. Не галлюцинирует.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49240"/>
            <a:ext cx="411480" cy="411480"/>
          </a:xfrm>
          <a:prstGeom prst="roundRect">
            <a:avLst/>
          </a:prstGeom>
          <a:solidFill>
            <a:srgbClr val="F570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4059"/>
                </a:solidFill>
              </a:defRPr>
            </a:pPr>
            <a:r>
              <a:t>Bounce Rate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Открытие карточки &lt; 3 сек → негативный сигнал quick_return. 5 типов событий с весами (view 2.0, click 3.0, cart 5.0). Temporal decay 0.95/день.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40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СПАСИБО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377440"/>
            <a:ext cx="274320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Демо: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SonarQube: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429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tenderhack.extra.moscow/sonar/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</a:defRPr>
            </a:pPr>
            <a: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976D2"/>
                </a:solidFill>
              </a:defRPr>
            </a:pPr>
            <a:r>
              <a:t>github.com/Shadowru/tenderhack2026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537K товаров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2M контрактов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4190 профилей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93% качество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5029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9999"/>
                </a:solidFill>
              </a:defRPr>
            </a:pPr>
            <a:r>
              <a:t>30мс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</a:defRPr>
            </a:pPr>
            <a:r>
              <a:t>TenderHack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