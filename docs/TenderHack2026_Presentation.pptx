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0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ПЕРСОНАЛИЗИРОВАННЫЙ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53935"/>
                </a:solidFill>
              </a:defRPr>
            </a:pPr>
            <a:r>
              <a:t>УМНЫЙ ПОИСК ПРОДУКЦИИ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</a:defRPr>
            </a:pPr>
            <a:r>
              <a:t>Портал поставщиков — zakupki.mos.ru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274320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TenderHack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76D2"/>
                </a:solidFill>
              </a:defRPr>
            </a:pPr>
            <a:r>
              <a:t>tenderhack.extra.moscow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ПРОБЛЕМА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4059"/>
                </a:solidFill>
              </a:defRPr>
            </a:pPr>
            <a:r>
              <a:t>537 000 товаров. 4 190 организаций. Одна поисковая строка.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291840" cy="2286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4059"/>
                </a:solidFill>
              </a:defRPr>
            </a:pPr>
            <a:r>
              <a:t>Больница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Ищет «бумага»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059"/>
                </a:solidFill>
              </a:defRPr>
            </a:pPr>
            <a:r>
              <a:t>Нужна бумага для ЭКГ,</a:t>
            </a:r>
            <a:br/>
            <a:r>
              <a:t>термобумага, офисная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291840" cy="22860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4059"/>
                </a:solidFill>
              </a:defRPr>
            </a:pPr>
            <a:r>
              <a:t>Школа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Ищет «бумага»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059"/>
                </a:solidFill>
              </a:defRPr>
            </a:pPr>
            <a:r>
              <a:t>Нужны бланки для грамот,</a:t>
            </a:r>
            <a:br/>
            <a:r>
              <a:t>сертификат-бумага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291840" cy="2286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4059"/>
                </a:solidFill>
              </a:defRPr>
            </a:pPr>
            <a:r>
              <a:t>Колледж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Ищет «бумага»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059"/>
                </a:solidFill>
              </a:defRPr>
            </a:pPr>
            <a:r>
              <a:t>Нужна одноразовая посуда</a:t>
            </a:r>
            <a:br/>
            <a:r>
              <a:t>из ламинированной бумаги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</a:defRPr>
            </a:pPr>
            <a:r>
              <a:t>Сегодня: все получают одинаковый результат — SvetoCopy 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A047"/>
                </a:solidFill>
              </a:defRPr>
            </a:pPr>
            <a:r>
              <a:t>Наша задача: каждый видит то, что нужно именно ему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РЕШЕНИЕ — 4 УРОВНЯ ИНТЕЛЛЕКТА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188720"/>
            <a:ext cx="640080" cy="64008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4059"/>
                </a:solidFill>
              </a:defRPr>
            </a:pPr>
            <a:r>
              <a:t>Морфологический</a:t>
            </a:r>
            <a:br/>
            <a:r>
              <a:t>поиск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Русская морфология</a:t>
            </a:r>
            <a:br/>
            <a:r>
              <a:t>Subject extraction</a:t>
            </a:r>
            <a:br/>
            <a:r>
              <a:t>«ручка» ≠ «тачка с ручкой»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4059"/>
                </a:solidFill>
              </a:defRPr>
            </a:pPr>
            <a:r>
              <a:t>Опечатки</a:t>
            </a:r>
            <a:br/>
            <a:r>
              <a:t>и синонимы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74320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490K словарь</a:t>
            </a:r>
            <a:br/>
            <a:r>
              <a:t>EN→RU раскладка</a:t>
            </a:r>
            <a:br/>
            <a:r>
              <a:t>123 правила синонимов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1188720"/>
            <a:ext cx="640080" cy="64008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4059"/>
                </a:solidFill>
              </a:defRPr>
            </a:pPr>
            <a:r>
              <a:t>Персонализация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Cold start из 2M контрактов</a:t>
            </a:r>
            <a:br/>
            <a:r>
              <a:t>4 190 профилей организаций</a:t>
            </a:r>
            <a:br/>
            <a:r>
              <a:t>Dynamic re-ranking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0" y="1188720"/>
            <a:ext cx="640080" cy="64008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4059"/>
                </a:solidFill>
              </a:defRPr>
            </a:pPr>
            <a:r>
              <a:t>AI-расширение</a:t>
            </a:r>
            <a:br/>
            <a:r>
              <a:t>(RAG)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74320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9260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Qwen 2.5 7B (Ollama)</a:t>
            </a:r>
            <a:br/>
            <a:r>
              <a:t>ES категории → LLM</a:t>
            </a:r>
            <a:br/>
            <a:r>
              <a:t>Нечёткие запросы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059"/>
                </a:solidFill>
              </a:defRPr>
            </a:pPr>
            <a:r>
              <a:t>Качество поиска: 93% — релевантный результат в топ-5 (134 тестовых запроса)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ПРОЦЕСС ОБРАБОТКИ ЗАПРОСА (BPMN)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18872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326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4059"/>
                </a:solidFill>
              </a:defRPr>
            </a:pPr>
            <a:r>
              <a:t>Пользователь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430000" cy="1188720"/>
          </a:xfrm>
          <a:prstGeom prst="rect">
            <a:avLst/>
          </a:prstGeom>
          <a:solidFill>
            <a:srgbClr val="FBE9E7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042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4059"/>
                </a:solidFill>
              </a:defRPr>
            </a:pPr>
            <a:r>
              <a:t>Backend (FastAPI)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1143000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6758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4059"/>
                </a:solidFill>
              </a:defRPr>
            </a:pPr>
            <a:r>
              <a:t>Elasticsearch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029200"/>
            <a:ext cx="11430000" cy="1188720"/>
          </a:xfrm>
          <a:prstGeom prst="rect">
            <a:avLst/>
          </a:prstGeom>
          <a:solidFill>
            <a:srgbClr val="FEF3E2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0474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4059"/>
                </a:solidFill>
              </a:defRPr>
            </a:pPr>
            <a:r>
              <a:t>Redis / PostgreSQL</a:t>
            </a:r>
          </a:p>
        </p:txBody>
      </p:sp>
      <p:sp>
        <p:nvSpPr>
          <p:cNvPr id="14" name="Oval 13"/>
          <p:cNvSpPr/>
          <p:nvPr/>
        </p:nvSpPr>
        <p:spPr>
          <a:xfrm>
            <a:off x="1645920" y="1325880"/>
            <a:ext cx="365760" cy="36576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12344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Ввод запроса</a:t>
            </a:r>
            <a:br/>
            <a:r>
              <a:t>в строку поиска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0" y="1325880"/>
            <a:ext cx="365760" cy="365760"/>
          </a:xfrm>
          <a:prstGeom prst="ellipse">
            <a:avLst/>
          </a:prstGeom>
          <a:solidFill>
            <a:srgbClr val="E53935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45920" y="26060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Нормализация</a:t>
            </a:r>
            <a:br/>
            <a:r>
              <a:t>EN→RU раскладка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6060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Spell check</a:t>
            </a:r>
            <a:br/>
            <a:r>
              <a:t>490K словарь</a:t>
            </a:r>
          </a:p>
        </p:txBody>
      </p:sp>
      <p:sp>
        <p:nvSpPr>
          <p:cNvPr id="19" name="Diamond 18"/>
          <p:cNvSpPr/>
          <p:nvPr/>
        </p:nvSpPr>
        <p:spPr>
          <a:xfrm>
            <a:off x="5120640" y="2628900"/>
            <a:ext cx="502920" cy="50292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334059"/>
                </a:solidFill>
              </a:defRPr>
            </a:pPr>
            <a:r>
              <a:t>≤6?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28600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Prefix поиск</a:t>
            </a:r>
            <a:br/>
            <a:r>
              <a:t>subject.raw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92608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Multi-match</a:t>
            </a:r>
            <a:br/>
            <a:r>
              <a:t>4 стратегии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6060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Function score</a:t>
            </a:r>
            <a:br/>
            <a:r>
              <a:t>+ бусты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6060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RAG</a:t>
            </a:r>
            <a:br/>
            <a:r>
              <a:t>LLM (Ollama)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9776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BM25 + fuzzy</a:t>
            </a:r>
            <a:br/>
            <a:r>
              <a:t>synonyms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9776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Aggregation</a:t>
            </a:r>
            <a:br/>
            <a:r>
              <a:t>категорий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9776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Filtered</a:t>
            </a:r>
            <a:br/>
            <a:r>
              <a:t>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53492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Cold start</a:t>
            </a:r>
            <a:br/>
            <a:r>
              <a:t>PG → 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3492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Product</a:t>
            </a:r>
            <a:br/>
            <a:r>
              <a:t>boosts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53492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Category</a:t>
            </a:r>
            <a:br/>
            <a:r>
              <a:t>boosts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534924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4059"/>
                </a:solidFill>
              </a:defRPr>
            </a:pPr>
            <a:r>
              <a:t>Track events</a:t>
            </a:r>
            <a:br/>
            <a:r>
              <a:t>log + session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11680" y="1508760.0"/>
            <a:ext cx="118872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241280" y="1508760.0"/>
            <a:ext cx="274320" cy="137160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0480.0" y="1783080.0"/>
            <a:ext cx="0.0" cy="82296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6000.0" y="1783080.0"/>
            <a:ext cx="0.0" cy="82296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926080" y="2880360.0"/>
            <a:ext cx="27432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80560" y="2880360.0"/>
            <a:ext cx="64008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623560" y="2560320.0"/>
            <a:ext cx="228600" cy="18288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623560" y="3017520.0"/>
            <a:ext cx="228600" cy="18288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32320" y="2560320.0"/>
            <a:ext cx="274320" cy="32004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132320" y="2880360.0"/>
            <a:ext cx="274320" cy="32004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86800" y="2880360.0"/>
            <a:ext cx="27432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92240.0" y="3474720.0"/>
            <a:ext cx="0.0" cy="50292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46720.0" y="3154680.0"/>
            <a:ext cx="0.0" cy="82296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01200.0" y="3154680.0"/>
            <a:ext cx="0.0" cy="82296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32320" y="4251960.0"/>
            <a:ext cx="27432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86800" y="4251960.0"/>
            <a:ext cx="27432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86000.0" y="3154680.0"/>
            <a:ext cx="0.0" cy="219456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01200.0" y="3154680.0"/>
            <a:ext cx="0.0" cy="219456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26080" y="5623560.0"/>
            <a:ext cx="27432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80560" y="5623560.0"/>
            <a:ext cx="274320" cy="0.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57800" y="2103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3A047"/>
                </a:solidFill>
              </a:defRPr>
            </a:pPr>
            <a:r>
              <a:t>Да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57800" y="3246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53935"/>
                </a:solidFill>
              </a:defRPr>
            </a:pPr>
            <a:r>
              <a:t>Нет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ПЕРСОНАЛИЗАЦИЯ В ДЕЙСТВИИ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4059"/>
                </a:solidFill>
              </a:defRPr>
            </a:pPr>
            <a:r>
              <a:t>Один запрос «бумага» — три разных результата: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74720" cy="38404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6D2"/>
                </a:solidFill>
              </a:defRPr>
            </a:pPr>
            <a:r>
              <a:t>Школа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ИНН: 5003021368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4059"/>
                </a:solidFill>
              </a:defRPr>
            </a:pPr>
            <a:r>
              <a:t>Результаты: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1. Дизайн-бумага Металлик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2. Сертификат-бумага Attache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3. Бумага для творчества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06240"/>
            <a:ext cx="29260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</a:defRPr>
            </a:pPr>
            <a:r>
              <a:t>Почему: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Бланки для грамот</a:t>
            </a:r>
            <a:br/>
            <a:r>
              <a:t>и сертификатов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645920"/>
            <a:ext cx="3474720" cy="38404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</a:defRPr>
            </a:pPr>
            <a:r>
              <a:t>Колледж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ИНН: 7716237684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4059"/>
                </a:solidFill>
              </a:defRPr>
            </a:pPr>
            <a:r>
              <a:t>Результаты: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1. Тарелка из ламинированной бумаги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2. Стакан бумажный одноразовый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3. Ролик подачи бумаги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1999" y="4206240"/>
            <a:ext cx="292608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1999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3935"/>
                </a:solidFill>
              </a:defRPr>
            </a:pPr>
            <a:r>
              <a:t>Почему: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663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Столовая + расходники</a:t>
            </a:r>
            <a:br/>
            <a:r>
              <a:t>для принтеров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1645920"/>
            <a:ext cx="3474720" cy="38404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3A047"/>
                </a:solidFill>
              </a:defRPr>
            </a:pPr>
            <a:r>
              <a:t>Больница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ИНН: 7734091519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4059"/>
                </a:solidFill>
              </a:defRPr>
            </a:pPr>
            <a:r>
              <a:t>Результаты: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1. SvetoCopy Classic А4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2. SvetoCopy (А4, 80 г/кв.м)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9"/>
                </a:solidFill>
              </a:defRPr>
            </a:pPr>
            <a:r>
              <a:t>  3. ОФИСМАГ СТАНДАРТ А4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39" y="4206240"/>
            <a:ext cx="2926080" cy="1828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39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A047"/>
                </a:solidFill>
              </a:defRPr>
            </a:pPr>
            <a:r>
              <a:t>Почему: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9" y="4663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Стандартная</a:t>
            </a:r>
            <a:br/>
            <a:r>
              <a:t>офисная бумага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Персонализация подсказок тоже работает — автокомплит учитывает профиль организации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КЛЮЧЕВЫЕ ПОКАЗАТЕЛИ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15568"/>
            <a:ext cx="2157984" cy="914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059"/>
                </a:solidFill>
              </a:defRPr>
            </a:pPr>
            <a:r>
              <a:t>537 314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Товаров проиндексировано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0972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35808" y="1115568"/>
            <a:ext cx="2157984" cy="91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059"/>
                </a:solidFill>
              </a:defRPr>
            </a:pPr>
            <a:r>
              <a:t>2 009 457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Контрактов проанализировано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0972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4688" y="1115568"/>
            <a:ext cx="2157984" cy="914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059"/>
                </a:solidFill>
              </a:defRPr>
            </a:pPr>
            <a:r>
              <a:t>4 190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Организаций с профилями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0972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7" y="1115568"/>
            <a:ext cx="2157984" cy="914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059"/>
                </a:solidFill>
              </a:defRPr>
            </a:pPr>
            <a:r>
              <a:t>490 204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Терминов в словаре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10972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42448" y="1115568"/>
            <a:ext cx="2157984" cy="914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059"/>
                </a:solidFill>
              </a:defRPr>
            </a:pPr>
            <a:r>
              <a:t>93%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Качество поиска (топ-5)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4059"/>
                </a:solidFill>
              </a:defRPr>
            </a:pPr>
            <a:r>
              <a:t>Метрики качества поиска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059"/>
                </a:solidFill>
              </a:defRPr>
            </a:pPr>
            <a:r>
              <a:t>MRR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337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Позиция первого релевантного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3A047"/>
                </a:solidFill>
              </a:defRPr>
            </a:pPr>
            <a:r>
              <a:t>&gt; 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49039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059"/>
                </a:solidFill>
              </a:defRPr>
            </a:pPr>
            <a:r>
              <a:t>Precision@10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7947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Доля полезных в топ-10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7947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3A047"/>
                </a:solidFill>
              </a:defRPr>
            </a:pPr>
            <a:r>
              <a:t>&gt; 40%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06240"/>
            <a:ext cx="10515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059"/>
                </a:solidFill>
              </a:defRPr>
            </a:pPr>
            <a:r>
              <a:t>CTR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Клики / поисковые запросы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3A047"/>
                </a:solidFill>
              </a:defRPr>
            </a:pPr>
            <a:r>
              <a:t>&gt; 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66344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059"/>
                </a:solidFill>
              </a:defRPr>
            </a:pPr>
            <a:r>
              <a:t>Session Success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Сессий с кликом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3A047"/>
                </a:solidFill>
              </a:defRPr>
            </a:pPr>
            <a:r>
              <a:t>&gt; 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120640"/>
            <a:ext cx="10515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059"/>
                </a:solidFill>
              </a:defRPr>
            </a:pPr>
            <a:r>
              <a:t>Bounce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166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Быстрый возврат с карточки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3A047"/>
                </a:solidFill>
              </a:defRPr>
            </a:pPr>
            <a:r>
              <a:t>&lt; 30%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57784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059"/>
                </a:solidFill>
              </a:defRPr>
            </a:pPr>
            <a:r>
              <a:t>Personalization Lift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623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Улучшение CTR при персонализации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623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3A047"/>
                </a:solidFill>
              </a:defRPr>
            </a:pPr>
            <a:r>
              <a:t>&gt; 10%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АРХИТЕКТУРА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1463040"/>
            <a:ext cx="73152" cy="1280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React SPA</a:t>
            </a:r>
            <a:br/>
            <a:r>
              <a:t>Nginx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Frontend</a:t>
            </a:r>
            <a:br/>
            <a:r>
              <a:t>UI, карточки, корзина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3088" y="1463040"/>
            <a:ext cx="73152" cy="12801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FastAPI</a:t>
            </a:r>
            <a:br/>
            <a:r>
              <a:t>Python 3.12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Backend</a:t>
            </a:r>
            <a:br/>
            <a:r>
              <a:t>API, персонализация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" y="3566160"/>
            <a:ext cx="73152" cy="12801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611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Elasticsearch</a:t>
            </a:r>
            <a:br/>
            <a:r>
              <a:t>8.17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537K docs</a:t>
            </a:r>
            <a:br/>
            <a:r>
              <a:t>BM25, fuzzy, synonyms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4747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3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3088" y="3566160"/>
            <a:ext cx="73152" cy="1280160"/>
          </a:xfrm>
          <a:prstGeom prst="rect">
            <a:avLst/>
          </a:prstGeom>
          <a:solidFill>
            <a:srgbClr val="DC3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611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Redis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Profiles, cache</a:t>
            </a:r>
            <a:br/>
            <a:r>
              <a:t>events, cart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4747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3488" y="3566160"/>
            <a:ext cx="73152" cy="1280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3611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PostgreSQL</a:t>
            </a:r>
            <a:br/>
            <a: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2M contracts</a:t>
            </a:r>
            <a:br/>
            <a:r>
              <a:t>metrics, sessions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37160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33488" y="1463040"/>
            <a:ext cx="73152" cy="12801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Ollama</a:t>
            </a:r>
            <a:br/>
            <a:r>
              <a:t>Qwen 2.5 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AI expansion</a:t>
            </a:r>
            <a:br/>
            <a:r>
              <a:t>RAG-поиск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Caddy (HTTPS, reverse proxy)  |  SonarQube (Quality Gate: OK)  |  Docker Compose  |  32 CPU, 125GB RAM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74720" y="2103120"/>
            <a:ext cx="64008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94960" y="2834640"/>
            <a:ext cx="0" cy="6400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94560" y="2834640"/>
            <a:ext cx="0" cy="6400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75120" y="2103120"/>
            <a:ext cx="64008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75120" y="4206240"/>
            <a:ext cx="64008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КЛЮЧЕВЫЕ ИННОВАЦИИ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4114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4059"/>
                </a:solidFill>
              </a:defRPr>
            </a:pPr>
            <a:r>
              <a:t>Subject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097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Морфоанализ pymorphy3 выделяет ПРЕДМЕТ товара из названия. «Ручка» ≠ «тачка с ручкой». Падежи, сокращения, предлоги — всё учтено.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59"/>
            <a:ext cx="411480" cy="4114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4059"/>
                </a:solidFill>
              </a:defRPr>
            </a:pPr>
            <a:r>
              <a:t>Двухрежимный поиск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3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Short (≤6 символов): prefix по subject.raw. Full: 4 параллельных стратегии (fuzzy + phrase×2 + AND). Оптимальная обработка каждого типа запроса.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411480" cy="41148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4059"/>
                </a:solidFill>
              </a:defRPr>
            </a:pPr>
            <a:r>
              <a:t>Cold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004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4 190 организаций получают персонализацию с первого визита. 2M контрактов → предагрегированные buyer_category_weights → Redis за O(1).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79"/>
            <a:ext cx="41148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4059"/>
                </a:solidFill>
              </a:defRPr>
            </a:pPr>
            <a:r>
              <a:t>RAG через Ollama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25195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LLM (Qwen 2.5 7B) + реальные категории из ES индекса. «Медицинские перчатки» → нитриловые, хирургические, латексные. Не галлюцинирует.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9240"/>
            <a:ext cx="411480" cy="411480"/>
          </a:xfrm>
          <a:prstGeom prst="roundRect">
            <a:avLst/>
          </a:prstGeom>
          <a:solidFill>
            <a:srgbClr val="F57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4059"/>
                </a:solidFill>
              </a:defRPr>
            </a:pPr>
            <a:r>
              <a:t>Bounce Rate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035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Открытие карточки &lt; 3 сек → негативный сигнал quick_return. 5 типов событий с весами (view 2.0, click 3.0, cart 5.0). Temporal decay 0.95/день.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4059"/>
                </a:solidFill>
              </a:defRPr>
            </a:pPr>
            <a:r>
              <a:t>СИГНАЛЫ РАНЖИРОВАНИЯ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698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3A047"/>
                </a:solidFill>
              </a:defRPr>
            </a:pPr>
            <a:r>
              <a:t>ПОЗИТИВНЫЕ (повышают позицию)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0292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Совпадение с предметом товара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Subject extraction: поиск «ручка» → товары где ручка = предмет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74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3A047"/>
                </a:solidFill>
              </a:defRPr>
            </a:pPr>
            <a:r>
              <a:t>x5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2316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Точная фраза в названии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match_phrase slop:1 — «100 листов» выше «500 листов»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3A047"/>
                </a:solidFill>
              </a:defRPr>
            </a:pPr>
            <a:r>
              <a:t>x20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39"/>
            <a:ext cx="50292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История закупок организации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3755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Cold start из контрактов: школа → бланки, больница → офисная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546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3A047"/>
                </a:solidFill>
              </a:defRPr>
            </a:pPr>
            <a:r>
              <a:t>x1.05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0332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Добавлен в корзину / избранное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Event cart (вес 5.0) → мгновенный product 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3A047"/>
                </a:solidFill>
              </a:defRPr>
            </a:pPr>
            <a:r>
              <a:t>x2.0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50292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Просмотр карточки &gt; 3 сек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Event view (вес 2.0) — заинтересовался, не bounce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3A047"/>
                </a:solidFill>
              </a:defRPr>
            </a:pPr>
            <a:r>
              <a:t>x1.5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98348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Популярность (кол-во контрактов)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log2p(popularity) — мягкий множитель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074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3A047"/>
                </a:solidFill>
              </a:defRPr>
            </a:pPr>
            <a:r>
              <a:t>x1-3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</a:defRPr>
            </a:pPr>
            <a:r>
              <a:t>НЕГАТИВНЫЕ (понижают / исключают)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554480"/>
            <a:ext cx="5029200" cy="457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783080"/>
            <a:ext cx="5029200" cy="548640"/>
          </a:xfrm>
          <a:prstGeom prst="rect">
            <a:avLst/>
          </a:prstGeom>
          <a:solidFill>
            <a:srgbClr val="F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Отрицание в запросе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057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«не маслянных», «без латексных», «кроме» → must_not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1874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53935"/>
                </a:solidFill>
              </a:defRPr>
            </a:pPr>
            <a:r>
              <a:t>Исключ.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42316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2468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Bounce (&lt; 3 сек на карточке)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697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Event quick_return — закрыл карточку быстро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53935"/>
                </a:solidFill>
              </a:defRPr>
            </a:pPr>
            <a:r>
              <a:t>-сигнал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063239"/>
            <a:ext cx="5029200" cy="548640"/>
          </a:xfrm>
          <a:prstGeom prst="rect">
            <a:avLst/>
          </a:prstGeom>
          <a:solidFill>
            <a:srgbClr val="F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1089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Слово — атрибут, не предмет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33755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«тачка с ручкой» → subject=тачка, ручка не предмет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1546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53935"/>
                </a:solidFill>
              </a:defRPr>
            </a:pPr>
            <a:r>
              <a:t>x0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703320"/>
            <a:ext cx="5029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3749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Temporal decay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977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DECAY_FACTOR = 0.95 на каждый день давности события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794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53935"/>
                </a:solidFill>
              </a:defRPr>
            </a:pPr>
            <a:r>
              <a:t>×0.95/д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343400"/>
            <a:ext cx="5029200" cy="548640"/>
          </a:xfrm>
          <a:prstGeom prst="rect">
            <a:avLst/>
          </a:prstGeom>
          <a:solidFill>
            <a:srgbClr val="F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389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059"/>
                </a:solidFill>
              </a:defRPr>
            </a:pPr>
            <a:r>
              <a:t>Историческая vs live-данные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617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Контракты из PG дисконтируются ×0.7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53935"/>
                </a:solidFill>
              </a:defRPr>
            </a:pPr>
            <a:r>
              <a:t>×0.7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</a:defRPr>
            </a:pPr>
            <a:r>
              <a:t>Формула: Score = BM25(strategies) x Popularity(log2p) x ProductBoost(1-2) x CategoryBoost(1-1.05) + SubjectExact(+15) + SubjectFuzzy(+12)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0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СПАСИБО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377440"/>
            <a:ext cx="274320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Демо: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76D2"/>
                </a:solidFill>
              </a:defRPr>
            </a:pPr>
            <a:r>
              <a:t>tenderhack.extra.moscow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SonarQube: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76D2"/>
                </a:solidFill>
              </a:defRPr>
            </a:pPr>
            <a:r>
              <a:t>tenderhack.extra.moscow/sonar/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GitHub: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76D2"/>
                </a:solidFill>
              </a:defRPr>
            </a:pPr>
            <a:r>
              <a:t>github.com/Shadowru/tenderhack2026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537K товаров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2M контрактов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4190 профилей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93% качество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30мс ответ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TenderHack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