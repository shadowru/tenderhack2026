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ПЕРСОНАЛИЗИРОВАННЫЙ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53935"/>
                </a:solidFill>
              </a:defRPr>
            </a:pPr>
            <a:r>
              <a:t>УМНЫЙ ПОИСК ПРОДУКЦИИ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99999"/>
                </a:solidFill>
              </a:defRPr>
            </a:pPr>
            <a:r>
              <a:t>Портал поставщиков — zakupki.mos.ru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4059"/>
                </a:solidFill>
              </a:defRPr>
            </a:pPr>
            <a:r>
              <a:t>537 000 товаров. 4 190 организаций. Одна поисковая строка.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22860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Больница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бумага для ЭКГ,</a:t>
            </a:r>
            <a:br/>
            <a:r>
              <a:t>термобумага, офисная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291840" cy="22860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Школа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Нужны бланки для грамот,</a:t>
            </a:r>
            <a:br/>
            <a:r>
              <a:t>сертификат-бумага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2286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Колледж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одноразовая посуда</a:t>
            </a:r>
            <a:br/>
            <a:r>
              <a:t>из ламинированной бумаги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</a:defRPr>
            </a:pPr>
            <a:r>
              <a:t>Сегодня: все получают одинаковый результат — SvetoCopy A4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3A047"/>
                </a:solidFill>
              </a:defRPr>
            </a:pPr>
            <a:r>
              <a:t>Наша задача: каждый видит то, что нужно именно ему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РЕШЕНИЕ — 4 УРОВНЯ ИНТЕЛЛЕКТА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1188720"/>
            <a:ext cx="640080" cy="64008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Морфологический</a:t>
            </a:r>
            <a:br/>
            <a:r>
              <a:t>поиск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Русская морфология</a:t>
            </a:r>
            <a:br/>
            <a:r>
              <a:t>Subject extraction</a:t>
            </a:r>
            <a:br/>
            <a:r>
              <a:t>«ручка» ≠ «тачка с ручкой»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Опечатки</a:t>
            </a:r>
            <a:br/>
            <a:r>
              <a:t>и синонимы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490K словарь</a:t>
            </a:r>
            <a:br/>
            <a:r>
              <a:t>EN→RU раскладка</a:t>
            </a:r>
            <a:br/>
            <a:r>
              <a:t>123 правила синонимов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0" y="118872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Персонализация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Cold start из 2M контрактов</a:t>
            </a:r>
            <a:br/>
            <a:r>
              <a:t>4 190 профилей организаций</a:t>
            </a:r>
            <a:br/>
            <a:r>
              <a:t>Dynamic re-ranking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0" y="1188720"/>
            <a:ext cx="640080" cy="6400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AI-расширение</a:t>
            </a:r>
            <a:br/>
            <a:r>
              <a:t>(RAG)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Qwen 2.5 7B (Ollama)</a:t>
            </a:r>
            <a:br/>
            <a:r>
              <a:t>ES категории → LLM</a:t>
            </a:r>
            <a:br/>
            <a:r>
              <a:t>Нечёткие запросы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4059"/>
                </a:solidFill>
              </a:defRPr>
            </a:pPr>
            <a:r>
              <a:t>Качество поиска: 93% — релевантный результат в топ-5 (134 тестовых запроса)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ПРОЦЕСС ОБРАБОТКИ ЗАПРОСА (BPMN)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11430000" cy="1188720"/>
          </a:xfrm>
          <a:prstGeom prst="rect">
            <a:avLst/>
          </a:prstGeom>
          <a:solidFill>
            <a:srgbClr val="E3F2FD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326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Пользователь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11430000" cy="1188720"/>
          </a:xfrm>
          <a:prstGeom prst="rect">
            <a:avLst/>
          </a:prstGeom>
          <a:solidFill>
            <a:srgbClr val="FBE9E7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Backend (FastAPI)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57600"/>
            <a:ext cx="114300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6758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Elasticsearch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029200"/>
            <a:ext cx="11430000" cy="1188720"/>
          </a:xfrm>
          <a:prstGeom prst="rect">
            <a:avLst/>
          </a:prstGeom>
          <a:solidFill>
            <a:srgbClr val="FEF3E2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04748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34059"/>
                </a:solidFill>
              </a:defRPr>
            </a:pPr>
            <a:r>
              <a:t>Redis / PostgreSQL</a:t>
            </a:r>
          </a:p>
        </p:txBody>
      </p:sp>
      <p:sp>
        <p:nvSpPr>
          <p:cNvPr id="14" name="Oval 13"/>
          <p:cNvSpPr/>
          <p:nvPr/>
        </p:nvSpPr>
        <p:spPr>
          <a:xfrm>
            <a:off x="1645920" y="1325880"/>
            <a:ext cx="365760" cy="36576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0400" y="12344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Ввод запроса</a:t>
            </a:r>
            <a:br/>
            <a:r>
              <a:t>в строку поиска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1325880"/>
            <a:ext cx="365760" cy="365760"/>
          </a:xfrm>
          <a:prstGeom prst="ellipse">
            <a:avLst/>
          </a:prstGeom>
          <a:solidFill>
            <a:srgbClr val="E53935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64592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Нормализация</a:t>
            </a:r>
            <a:br/>
            <a:r>
              <a:t>EN→RU раскладка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Spell check</a:t>
            </a:r>
            <a:br/>
            <a:r>
              <a:t>490K словарь</a:t>
            </a:r>
          </a:p>
        </p:txBody>
      </p:sp>
      <p:sp>
        <p:nvSpPr>
          <p:cNvPr id="19" name="Diamond 18"/>
          <p:cNvSpPr/>
          <p:nvPr/>
        </p:nvSpPr>
        <p:spPr>
          <a:xfrm>
            <a:off x="5120640" y="2628900"/>
            <a:ext cx="502920" cy="502920"/>
          </a:xfrm>
          <a:prstGeom prst="diamond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334059"/>
                </a:solidFill>
              </a:defRPr>
            </a:pPr>
            <a:r>
              <a:t>≤6?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Prefix поиск</a:t>
            </a:r>
            <a:br/>
            <a:r>
              <a:t>subject.raw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292608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Multi-match</a:t>
            </a:r>
            <a:br/>
            <a:r>
              <a:t>4 стратегии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Function score</a:t>
            </a:r>
            <a:br/>
            <a:r>
              <a:t>+ бусты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2606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RAG</a:t>
            </a:r>
            <a:br/>
            <a:r>
              <a:t>LLM (Ollama)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BM25 + fuzzy</a:t>
            </a:r>
            <a:br/>
            <a:r>
              <a:t>synonyms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Aggregation</a:t>
            </a:r>
            <a:br/>
            <a:r>
              <a:t>категорий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9776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Filtered</a:t>
            </a:r>
            <a:br/>
            <a:r>
              <a:t>search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Cold start</a:t>
            </a:r>
            <a:br/>
            <a:r>
              <a:t>PG → Redis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Product</a:t>
            </a:r>
            <a:br/>
            <a:r>
              <a:t>boosts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Category</a:t>
            </a:r>
            <a:br/>
            <a:r>
              <a:t>boosts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53492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Track events</a:t>
            </a:r>
            <a:br/>
            <a:r>
              <a:t>log + session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11680" y="1508760.0"/>
            <a:ext cx="11887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241280" y="1508760.0"/>
            <a:ext cx="274320" cy="137160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840480.0" y="1783080.0"/>
            <a:ext cx="0.0" cy="8229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86000.0" y="1783080.0"/>
            <a:ext cx="0.0" cy="8229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926080" y="28803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480560" y="2880360.0"/>
            <a:ext cx="64008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623560" y="2560320.0"/>
            <a:ext cx="228600" cy="18288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623560" y="3017520.0"/>
            <a:ext cx="228600" cy="18288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132320" y="2560320.0"/>
            <a:ext cx="274320" cy="32004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132320" y="2880360.0"/>
            <a:ext cx="274320" cy="32004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686800" y="28803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92240.0" y="3474720.0"/>
            <a:ext cx="0.0" cy="50292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46720.0" y="3154680.0"/>
            <a:ext cx="0.0" cy="8229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601200.0" y="3154680.0"/>
            <a:ext cx="0.0" cy="8229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132320" y="42519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686800" y="42519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86000.0" y="3154680.0"/>
            <a:ext cx="0.0" cy="21945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601200.0" y="3154680.0"/>
            <a:ext cx="0.0" cy="219456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6080" y="56235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80560" y="5623560.0"/>
            <a:ext cx="274320" cy="0.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257800" y="2103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43A047"/>
                </a:solidFill>
              </a:defRPr>
            </a:pPr>
            <a:r>
              <a:t>Да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246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53935"/>
                </a:solidFill>
              </a:defRPr>
            </a:pPr>
            <a:r>
              <a:t>Нет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ПЕРСОНАЛИЗАЦИЯ В ДЕЙСТВИИ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Один запрос «бумага» — три разных результата: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38404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76D2"/>
                </a:solidFill>
              </a:defRPr>
            </a:pPr>
            <a:r>
              <a:t>Школа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5003021368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Дизайн-бумага Металлик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Сертификат-бумага Attache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Бумага для творчества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29260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</a:defRPr>
            </a:pPr>
            <a:r>
              <a:t>Почему: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Бланки для грамот</a:t>
            </a:r>
            <a:br/>
            <a:r>
              <a:t>и сертификатов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474720" cy="38404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Колледж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7716237684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Тарелка из ламинированной бумаги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Стакан бумажный одноразовый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Ролик подачи бумаги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1999" y="4206240"/>
            <a:ext cx="2926080" cy="182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Почему: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Столовая + расходники</a:t>
            </a:r>
            <a:br/>
            <a:r>
              <a:t>для принтеров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45920"/>
            <a:ext cx="3474720" cy="3840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Больница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7734091519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3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SvetoCopy Classic А4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SvetoCopy (А4, 80 г/кв.м)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ОФИСМАГ СТАНДАРТ А4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9" y="4206240"/>
            <a:ext cx="2926080" cy="1828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3A047"/>
                </a:solidFill>
              </a:defRPr>
            </a:pPr>
            <a:r>
              <a:t>Почему: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Стандартная</a:t>
            </a:r>
            <a:br/>
            <a:r>
              <a:t>офисная бумага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Персонализация подсказок тоже работает — автокомплит учитывает профиль организации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КЛЮЧЕВЫЕ ПОКАЗАТЕЛИ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115568"/>
            <a:ext cx="2157984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537 314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Товаров проиндексировано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35808" y="1115568"/>
            <a:ext cx="2157984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2 009 457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Контрактов проанализировано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4688" y="1115568"/>
            <a:ext cx="2157984" cy="54864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4 190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Организаций с профилями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115568"/>
            <a:ext cx="2157984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490 204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Терминов в словаре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42448" y="1115568"/>
            <a:ext cx="2157984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Качество поиска (топ-5)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Метрики качества поиска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MRR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337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Позиция первого релевантного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0.5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Precision@10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947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Доля полезных в топ-10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7947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40%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CTR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Клики / поисковые запросы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6634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Session Success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709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Сессий с кликом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1206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Bounce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166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Быстрый возврат с карточки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&lt; 30%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5778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623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Personalization 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Улучшение CTR при персонализации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623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10%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146304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React SPA</a:t>
            </a:r>
            <a:br/>
            <a:r>
              <a:t>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Frontend</a:t>
            </a:r>
            <a:br/>
            <a:r>
              <a:t>UI, карточки, корзина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8" y="1463040"/>
            <a:ext cx="73152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FastAPI</a:t>
            </a:r>
            <a:br/>
            <a:r>
              <a:t>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Backend</a:t>
            </a:r>
            <a:br/>
            <a:r>
              <a:t>API, персонализация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" y="3566160"/>
            <a:ext cx="73152" cy="12801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Elasticsearch</a:t>
            </a:r>
            <a:br/>
            <a:r>
              <a:t>8.17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537K docs</a:t>
            </a:r>
            <a:br/>
            <a:r>
              <a:t>BM25, fuzzy, synonyms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38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33088" y="3566160"/>
            <a:ext cx="73152" cy="1280160"/>
          </a:xfrm>
          <a:prstGeom prst="rect">
            <a:avLst/>
          </a:prstGeom>
          <a:solidFill>
            <a:srgbClr val="DC3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Redis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Profiles, cache</a:t>
            </a:r>
            <a:br/>
            <a:r>
              <a:t>events, cart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356616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PostgreSQL</a:t>
            </a:r>
            <a:br/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2M contracts</a:t>
            </a:r>
            <a:br/>
            <a:r>
              <a:t>metrics, sessions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33488" y="1463040"/>
            <a:ext cx="73152" cy="128016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Ollama</a:t>
            </a:r>
            <a:br/>
            <a:r>
              <a:t>Qwen 2.5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AI expansion</a:t>
            </a:r>
            <a:br/>
            <a:r>
              <a:t>RAG-поиск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Caddy (HTTPS, reverse proxy)  |  SonarQube (Quality Gate: OK)  |  Docker Compose  |  32 CPU, 125GB RAM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74720" y="2103120"/>
            <a:ext cx="640080" cy="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0" y="2834640"/>
            <a:ext cx="0" cy="64008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94560" y="2834640"/>
            <a:ext cx="0" cy="64008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675120" y="2103120"/>
            <a:ext cx="640080" cy="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75120" y="4206240"/>
            <a:ext cx="640080" cy="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КЛЮЧЕВЫЕ ИННОВАЦИИ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114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Subject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Морфоанализ pymorphy3 выделяет ПРЕДМЕТ товара из названия. «Ручка» ≠ «тачка с ручкой». Падежи, сокращения, предлоги — всё учтено.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59"/>
            <a:ext cx="411480" cy="4114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Двухрежимный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Short (≤6 символов): prefix по subject.raw. Full: 4 параллельных стратегии (fuzzy + phrase×2 + AND). Оптимальная обработка каждого типа запроса.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Cold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4 190 организаций получают персонализацию с первого визита. 2M контрактов → предагрегированные buyer_category_weights → Redis за O(1).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411480" cy="41148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519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RAG через 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5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LLM (Qwen 2.5 7B) + реальные категории из ES индекса. «Медицинские перчатки» → нитриловые, хирургические, латексные. Не галлюцинирует.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49240"/>
            <a:ext cx="411480" cy="411480"/>
          </a:xfrm>
          <a:prstGeom prst="round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Bounce Rate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Открытие карточки &lt; 3 сек → негативный сигнал quick_return. 5 типов событий с весами (view 2.0, click 3.0, cart 5.0). Temporal decay 0.95/день.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СПАСИБО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Демо: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SonarQube: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429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tenderhack.extra.moscow/sonar/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github.com/Shadowru/tenderhack2026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537K товаров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2M контрактов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4190 профилей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93% качество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30мс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