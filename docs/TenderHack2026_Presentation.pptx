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40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ПЕРСОНАЛИЗИРОВАННЫЙ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E53935"/>
                </a:solidFill>
              </a:defRPr>
            </a:pPr>
            <a:r>
              <a:t>УМНЫЙ ПОИСК ПРОДУКЦИИ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00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99999"/>
                </a:solidFill>
              </a:defRPr>
            </a:pPr>
            <a:r>
              <a:t>Портал поставщиков — zakupki.mos.ru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114800"/>
            <a:ext cx="2743200" cy="36576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572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99999"/>
                </a:solidFill>
              </a:defRPr>
            </a:pPr>
            <a:r>
              <a:t>TenderHack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976D2"/>
                </a:solidFill>
              </a:defRPr>
            </a:pPr>
            <a:r>
              <a:t>tenderhack.extra.moscow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3935"/>
                </a:solidFill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0116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334059"/>
                </a:solidFill>
              </a:defRPr>
            </a:pPr>
            <a:r>
              <a:t>ПРОБЛЕМА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77240"/>
            <a:ext cx="10698480" cy="3657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34059"/>
                </a:solidFill>
              </a:defRPr>
            </a:pPr>
            <a:r>
              <a:t>537 000 товаров. 4 190 организаций. Одна поисковая строка.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3291840" cy="228600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4059"/>
                </a:solidFill>
              </a:defRPr>
            </a:pPr>
            <a:r>
              <a:t>Больница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Ищет «бумага»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1089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059"/>
                </a:solidFill>
              </a:defRPr>
            </a:pPr>
            <a:r>
              <a:t>Нужна бумага для ЭКГ,</a:t>
            </a:r>
            <a:br/>
            <a:r>
              <a:t>термобумага, офисная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291840" cy="22860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4059"/>
                </a:solidFill>
              </a:defRPr>
            </a:pPr>
            <a:r>
              <a:t>Школа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Ищет «бумага»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1089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059"/>
                </a:solidFill>
              </a:defRPr>
            </a:pPr>
            <a:r>
              <a:t>Нужны бланки для грамот,</a:t>
            </a:r>
            <a:br/>
            <a:r>
              <a:t>сертификат-бумага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011680"/>
            <a:ext cx="3291840" cy="2286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4059"/>
                </a:solidFill>
              </a:defRPr>
            </a:pPr>
            <a:r>
              <a:t>Колледж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Ищет «бумага»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1089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059"/>
                </a:solidFill>
              </a:defRPr>
            </a:pPr>
            <a:r>
              <a:t>Нужна одноразовая посуда</a:t>
            </a:r>
            <a:br/>
            <a:r>
              <a:t>из ламинированной бумаги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53935"/>
                </a:solidFill>
              </a:defRPr>
            </a:pPr>
            <a:r>
              <a:t>Сегодня: все получают одинаковый результат — SvetoCopy A4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3A047"/>
                </a:solidFill>
              </a:defRPr>
            </a:pPr>
            <a:r>
              <a:t>Наша задача: каждый видит то, что нужно именно ему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3935"/>
                </a:solidFill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0116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334059"/>
                </a:solidFill>
              </a:defRPr>
            </a:pPr>
            <a:r>
              <a:t>РЕШЕНИЕ — 4 УРОВНЯ ИНТЕЛЛЕКТА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77240"/>
            <a:ext cx="10698480" cy="3657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71600" y="1188720"/>
            <a:ext cx="640080" cy="64008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4059"/>
                </a:solidFill>
              </a:defRPr>
            </a:pPr>
            <a:r>
              <a:t>Морфологический</a:t>
            </a:r>
            <a:br/>
            <a:r>
              <a:t>поиск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743200"/>
            <a:ext cx="2560320" cy="18288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Русская морфология</a:t>
            </a:r>
            <a:br/>
            <a:r>
              <a:t>Subject extraction</a:t>
            </a:r>
            <a:br/>
            <a:r>
              <a:t>«ручка» ≠ «тачка с ручкой»</a:t>
            </a:r>
          </a:p>
        </p:txBody>
      </p:sp>
      <p:sp>
        <p:nvSpPr>
          <p:cNvPr id="10" name="Oval 9"/>
          <p:cNvSpPr/>
          <p:nvPr/>
        </p:nvSpPr>
        <p:spPr>
          <a:xfrm>
            <a:off x="4206240" y="1188720"/>
            <a:ext cx="640080" cy="640080"/>
          </a:xfrm>
          <a:prstGeom prst="ellipse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011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4059"/>
                </a:solidFill>
              </a:defRPr>
            </a:pPr>
            <a:r>
              <a:t>Опечатки</a:t>
            </a:r>
            <a:br/>
            <a:r>
              <a:t>и синонимы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743200"/>
            <a:ext cx="2560320" cy="18288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29260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490K словарь</a:t>
            </a:r>
            <a:br/>
            <a:r>
              <a:t>EN→RU раскладка</a:t>
            </a:r>
            <a:br/>
            <a:r>
              <a:t>123 правила синонимов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0" y="1188720"/>
            <a:ext cx="640080" cy="64008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11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4059"/>
                </a:solidFill>
              </a:defRPr>
            </a:pPr>
            <a:r>
              <a:t>Персонализация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2560320" cy="18288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9260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Cold start из 2M контрактов</a:t>
            </a:r>
            <a:br/>
            <a:r>
              <a:t>4 190 профилей организаций</a:t>
            </a:r>
            <a:br/>
            <a:r>
              <a:t>Dynamic re-ranking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0" y="1188720"/>
            <a:ext cx="640080" cy="640080"/>
          </a:xfrm>
          <a:prstGeom prst="ellipse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011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4059"/>
                </a:solidFill>
              </a:defRPr>
            </a:pPr>
            <a:r>
              <a:t>AI-расширение</a:t>
            </a:r>
            <a:br/>
            <a:r>
              <a:t>(RAG)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743200"/>
            <a:ext cx="2560320" cy="18288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0" y="29260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Qwen 2.5 7B (Ollama)</a:t>
            </a:r>
            <a:br/>
            <a:r>
              <a:t>ES категории → LLM</a:t>
            </a:r>
            <a:br/>
            <a:r>
              <a:t>Нечёткие запросы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4059"/>
                </a:solidFill>
              </a:defRPr>
            </a:pPr>
            <a:r>
              <a:t>Качество поиска: 93% — релевантный результат в топ-5 (134 тестовых запроса)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3935"/>
                </a:solidFill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0116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334059"/>
                </a:solidFill>
              </a:defRPr>
            </a:pPr>
            <a:r>
              <a:t>ПАЙПЛАЙН ОБРАБОТКИ ЗАПРОСА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77240"/>
            <a:ext cx="10698480" cy="3657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53935"/>
                </a:solidFill>
              </a:defRPr>
            </a:pPr>
            <a:r>
              <a:t>ОБРАБОТКА ВВОДА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82880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4632" y="1188720"/>
            <a:ext cx="73152" cy="9144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344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Ввод запроса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Строка поиска</a:t>
            </a:r>
            <a:br/>
            <a:r>
              <a:t>Автокомплит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620520"/>
            <a:ext cx="320040" cy="5080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5400000">
            <a:off x="2542032" y="1572768"/>
            <a:ext cx="146304" cy="146304"/>
          </a:xfrm>
          <a:prstGeom prst="triangle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43200" y="1097280"/>
            <a:ext cx="182880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70632" y="1188720"/>
            <a:ext cx="73152" cy="9144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1800" y="12344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Нормализация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16002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Раскладка EN→RU</a:t>
            </a:r>
            <a:br/>
            <a:r>
              <a:t>Транслит lat→кир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17720" y="1620520"/>
            <a:ext cx="320040" cy="5080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sosceles Triangle 17"/>
          <p:cNvSpPr/>
          <p:nvPr/>
        </p:nvSpPr>
        <p:spPr>
          <a:xfrm rot="5400000">
            <a:off x="4828032" y="1572768"/>
            <a:ext cx="146304" cy="146304"/>
          </a:xfrm>
          <a:prstGeom prst="triangle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9200" y="1097280"/>
            <a:ext cx="182880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56632" y="1188720"/>
            <a:ext cx="73152" cy="9144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57800" y="12344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Spell 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16002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490K словарь</a:t>
            </a:r>
            <a:br/>
            <a:r>
              <a:t>Детекция отрицания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03720" y="1620520"/>
            <a:ext cx="320040" cy="5080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Isosceles Triangle 23"/>
          <p:cNvSpPr/>
          <p:nvPr/>
        </p:nvSpPr>
        <p:spPr>
          <a:xfrm rot="5400000">
            <a:off x="7114032" y="1572768"/>
            <a:ext cx="146304" cy="146304"/>
          </a:xfrm>
          <a:prstGeom prst="triangle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15200" y="1097280"/>
            <a:ext cx="182880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2632" y="1188720"/>
            <a:ext cx="73152" cy="91440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43800" y="12344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Персонализация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00" y="16002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Cold start PG→Redis</a:t>
            </a:r>
            <a:br/>
            <a:r>
              <a:t>Product + Category boosts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89720" y="1620520"/>
            <a:ext cx="320040" cy="5080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Isosceles Triangle 29"/>
          <p:cNvSpPr/>
          <p:nvPr/>
        </p:nvSpPr>
        <p:spPr>
          <a:xfrm rot="5400000">
            <a:off x="9400032" y="1572768"/>
            <a:ext cx="146304" cy="146304"/>
          </a:xfrm>
          <a:prstGeom prst="triangle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601200" y="1097280"/>
            <a:ext cx="182880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28632" y="1188720"/>
            <a:ext cx="73152" cy="91440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29800" y="12344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Результат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29800" y="16002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Карточки + Формула</a:t>
            </a:r>
            <a:br/>
            <a:r>
              <a:t>AI-расширение (RAG)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53935"/>
                </a:solidFill>
              </a:defRPr>
            </a:pPr>
            <a:r>
              <a:t>ПОИСКОВЫЙ ДВИЖОК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2743200"/>
            <a:ext cx="210312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70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" y="2834640"/>
            <a:ext cx="73152" cy="914400"/>
          </a:xfrm>
          <a:prstGeom prst="rect">
            <a:avLst/>
          </a:prstGeom>
          <a:solidFill>
            <a:srgbClr val="F570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2880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Short mode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324612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Prefix subject.raw</a:t>
            </a:r>
            <a:br/>
            <a:r>
              <a:t>Fuzzy subject (≤6 сим.)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43200" y="2743200"/>
            <a:ext cx="210312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70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70632" y="2834640"/>
            <a:ext cx="73152" cy="914400"/>
          </a:xfrm>
          <a:prstGeom prst="rect">
            <a:avLst/>
          </a:prstGeom>
          <a:solidFill>
            <a:srgbClr val="F570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71800" y="2880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Full mode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71800" y="324612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Multi-match 4 стратегии</a:t>
            </a:r>
            <a:br/>
            <a:r>
              <a:t>Phrase + AND + Fuzzy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20640" y="2743200"/>
            <a:ext cx="210312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148072" y="2834640"/>
            <a:ext cx="73152" cy="914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49240" y="2880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Subject Boost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9240" y="324612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Exact +15 / Fuzzy +12</a:t>
            </a:r>
            <a:br/>
            <a:r>
              <a:t>Subject extraction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406640" y="2743200"/>
            <a:ext cx="210312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434072" y="2834640"/>
            <a:ext cx="73152" cy="914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635240" y="2880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Function Score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35240" y="324612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BM25 × Popularity</a:t>
            </a:r>
            <a:br/>
            <a:r>
              <a:t>× Product × Category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692640" y="2743200"/>
            <a:ext cx="210312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720072" y="2834640"/>
            <a:ext cx="73152" cy="91440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21240" y="2880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RAG (Ollama)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21240" y="324612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ES категории → LLM</a:t>
            </a:r>
            <a:br/>
            <a:r>
              <a:t>Qwen 2.5 7B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53935"/>
                </a:solidFill>
              </a:defRPr>
            </a:pPr>
            <a:r>
              <a:t>СЛОЙ ДАННЫХ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389120"/>
            <a:ext cx="256032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84632" y="4480560"/>
            <a:ext cx="73152" cy="91440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5800" y="45262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Elasticsearch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48920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537K docs, BM25</a:t>
            </a:r>
            <a:br/>
            <a:r>
              <a:t>Synonyms, Fuzzy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291840" y="4389120"/>
            <a:ext cx="256032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38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319272" y="4480560"/>
            <a:ext cx="73152" cy="914400"/>
          </a:xfrm>
          <a:prstGeom prst="rect">
            <a:avLst/>
          </a:prstGeom>
          <a:solidFill>
            <a:srgbClr val="DC38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20440" y="45262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Redis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20440" y="48920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Profiles, Cache</a:t>
            </a:r>
            <a:br/>
            <a:r>
              <a:t>Events, Cart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26480" y="4389120"/>
            <a:ext cx="256032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153912" y="4480560"/>
            <a:ext cx="73152" cy="9144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55080" y="45262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PostgreSQL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55080" y="48920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2M Contracts</a:t>
            </a:r>
            <a:br/>
            <a:r>
              <a:t>Metrics, Sessions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961120" y="4389120"/>
            <a:ext cx="256032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988552" y="4480560"/>
            <a:ext cx="73152" cy="91440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89720" y="45262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Ollama (CPU)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89720" y="48920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Qwen 2.5 7B</a:t>
            </a:r>
            <a:br/>
            <a:r>
              <a:t>AI query expansion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346200" y="2240280"/>
            <a:ext cx="50800" cy="41148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769360" y="2240280"/>
            <a:ext cx="50800" cy="41148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46800" y="2240280"/>
            <a:ext cx="50800" cy="41148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432800" y="2240280"/>
            <a:ext cx="50800" cy="41148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627360" y="2240280"/>
            <a:ext cx="50800" cy="41148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711960" y="3886200"/>
            <a:ext cx="50800" cy="41148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546600" y="3886200"/>
            <a:ext cx="50800" cy="41148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381240" y="3886200"/>
            <a:ext cx="50800" cy="41148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215880" y="3886200"/>
            <a:ext cx="50800" cy="41148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3935"/>
                </a:solidFill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0116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334059"/>
                </a:solidFill>
              </a:defRPr>
            </a:pPr>
            <a:r>
              <a:t>ПЕРСОНАЛИЗАЦИЯ В ДЕЙСТВИИ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77240"/>
            <a:ext cx="10698480" cy="3657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4059"/>
                </a:solidFill>
              </a:defRPr>
            </a:pPr>
            <a:r>
              <a:t>Один запрос «бумага» — три разных результата: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3474720" cy="384048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976D2"/>
                </a:solidFill>
              </a:defRPr>
            </a:pPr>
            <a:r>
              <a:t>Школа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ИНН: 5003021368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4059"/>
                </a:solidFill>
              </a:defRPr>
            </a:pPr>
            <a:r>
              <a:t>Результаты: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80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1. Дизайн-бумага Металлик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46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2. Сертификат-бумага Attache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11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3. Бумага для творчества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206240"/>
            <a:ext cx="2926080" cy="1828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3891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976D2"/>
                </a:solidFill>
              </a:defRPr>
            </a:pPr>
            <a:r>
              <a:t>Почему: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6634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Бланки для грамот</a:t>
            </a:r>
            <a:br/>
            <a:r>
              <a:t>и сертификатов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79" y="1645920"/>
            <a:ext cx="3474720" cy="384048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1999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53935"/>
                </a:solidFill>
              </a:defRPr>
            </a:pPr>
            <a:r>
              <a:t>Колледж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999" y="21945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ИНН: 7716237684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1999" y="25603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4059"/>
                </a:solidFill>
              </a:defRPr>
            </a:pPr>
            <a:r>
              <a:t>Результаты: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1999" y="2880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1. Тарелка из ламинированной бумаги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1999" y="3246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2. Стакан бумажный одноразовый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1999" y="3611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3. Ролик подачи бумаги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1999" y="4206240"/>
            <a:ext cx="2926080" cy="1828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1999" y="43891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53935"/>
                </a:solidFill>
              </a:defRPr>
            </a:pPr>
            <a:r>
              <a:t>Почему: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1999" y="46634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Столовая + расходники</a:t>
            </a:r>
            <a:br/>
            <a:r>
              <a:t>для принтеров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1645920"/>
            <a:ext cx="3474720" cy="38404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39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3A047"/>
                </a:solidFill>
              </a:defRPr>
            </a:pPr>
            <a:r>
              <a:t>Больница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39" y="21945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ИНН: 7734091519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39" y="25603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4059"/>
                </a:solidFill>
              </a:defRPr>
            </a:pPr>
            <a:r>
              <a:t>Результаты: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39" y="2880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1. SvetoCopy Classic А4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39" y="3246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2. SvetoCopy (А4, 80 г/кв.м)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39" y="3611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3. ОФИСМАГ СТАНДАРТ А4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21039" y="4206240"/>
            <a:ext cx="2926080" cy="18288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39" y="43891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3A047"/>
                </a:solidFill>
              </a:defRPr>
            </a:pPr>
            <a:r>
              <a:t>Почему: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39" y="46634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Стандартная</a:t>
            </a:r>
            <a:br/>
            <a:r>
              <a:t>офисная бумага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852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Персонализация подсказок тоже работает — автокомплит учитывает профиль организации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3935"/>
                </a:solidFill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0116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334059"/>
                </a:solidFill>
              </a:defRPr>
            </a:pPr>
            <a:r>
              <a:t>КЛЮЧЕВЫЕ ПОКАЗАТЕЛИ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77240"/>
            <a:ext cx="10698480" cy="3657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21945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115568"/>
            <a:ext cx="2157984" cy="9144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3716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34059"/>
                </a:solidFill>
              </a:defRPr>
            </a:pPr>
            <a:r>
              <a:t>537 314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66666"/>
                </a:solidFill>
              </a:defRPr>
            </a:pPr>
            <a:r>
              <a:t>Товаров проиндексировано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17520" y="1097280"/>
            <a:ext cx="21945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35808" y="1115568"/>
            <a:ext cx="2157984" cy="9144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3716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34059"/>
                </a:solidFill>
              </a:defRPr>
            </a:pPr>
            <a:r>
              <a:t>2 009 457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1965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66666"/>
                </a:solidFill>
              </a:defRPr>
            </a:pPr>
            <a:r>
              <a:t>Контрактов проанализировано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0" y="1097280"/>
            <a:ext cx="21945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04688" y="1115568"/>
            <a:ext cx="2157984" cy="9144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0" y="13716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34059"/>
                </a:solidFill>
              </a:defRPr>
            </a:pPr>
            <a:r>
              <a:t>4 190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1965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66666"/>
                </a:solidFill>
              </a:defRPr>
            </a:pPr>
            <a:r>
              <a:t>Организаций с профилями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1097280"/>
            <a:ext cx="21945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7" y="1115568"/>
            <a:ext cx="2157984" cy="9144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9" y="13716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34059"/>
                </a:solidFill>
              </a:defRPr>
            </a:pPr>
            <a:r>
              <a:t>490 204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59" y="1965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66666"/>
                </a:solidFill>
              </a:defRPr>
            </a:pPr>
            <a:r>
              <a:t>Терминов в словаре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24160" y="1097280"/>
            <a:ext cx="21945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442448" y="1115568"/>
            <a:ext cx="2157984" cy="9144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98480" y="13716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34059"/>
                </a:solidFill>
              </a:defRPr>
            </a:pPr>
            <a:r>
              <a:t>93%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1965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66666"/>
                </a:solidFill>
              </a:defRPr>
            </a:pPr>
            <a:r>
              <a:t>Качество поиска (топ-5)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4059"/>
                </a:solidFill>
              </a:defRPr>
            </a:pPr>
            <a:r>
              <a:t>Метрики качества поиска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291840"/>
            <a:ext cx="10515600" cy="411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337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4059"/>
                </a:solidFill>
              </a:defRPr>
            </a:pPr>
            <a:r>
              <a:t>MRR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3337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Позиция первого релевантного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3337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43A047"/>
                </a:solidFill>
              </a:defRPr>
            </a:pPr>
            <a:r>
              <a:t>&gt; 0.5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3749039"/>
            <a:ext cx="10515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379475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4059"/>
                </a:solidFill>
              </a:defRPr>
            </a:pPr>
            <a:r>
              <a:t>Precision@10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379475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Доля полезных в топ-10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79475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43A047"/>
                </a:solidFill>
              </a:defRPr>
            </a:pPr>
            <a:r>
              <a:t>&gt; 40%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4206240"/>
            <a:ext cx="10515600" cy="411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4059"/>
                </a:solidFill>
              </a:defRPr>
            </a:pPr>
            <a:r>
              <a:t>CTR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4251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Клики / поисковые запросы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42519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43A047"/>
                </a:solidFill>
              </a:defRPr>
            </a:pPr>
            <a:r>
              <a:t>&gt; 30%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4663440"/>
            <a:ext cx="10515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4709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4059"/>
                </a:solidFill>
              </a:defRPr>
            </a:pPr>
            <a:r>
              <a:t>Session Success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47091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Сессий с кликом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4709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43A047"/>
                </a:solidFill>
              </a:defRPr>
            </a:pPr>
            <a:r>
              <a:t>&gt; 50%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5120640"/>
            <a:ext cx="10515600" cy="411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166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4059"/>
                </a:solidFill>
              </a:defRPr>
            </a:pPr>
            <a:r>
              <a:t>Bounce Rate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0" y="51663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Быстрый возврат с карточки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51663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43A047"/>
                </a:solidFill>
              </a:defRPr>
            </a:pPr>
            <a:r>
              <a:t>&lt; 30%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" y="5577840"/>
            <a:ext cx="10515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5623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4059"/>
                </a:solidFill>
              </a:defRPr>
            </a:pPr>
            <a:r>
              <a:t>Personalization Lift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5623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Улучшение CTR при персонализации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0" y="5623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43A047"/>
                </a:solidFill>
              </a:defRPr>
            </a:pPr>
            <a:r>
              <a:t>&gt; 10%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3935"/>
                </a:solidFill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0116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334059"/>
                </a:solidFill>
              </a:defRPr>
            </a:pPr>
            <a: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77240"/>
            <a:ext cx="10698480" cy="3657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371600"/>
            <a:ext cx="25603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32688" y="1463040"/>
            <a:ext cx="73152" cy="128016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5087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React SPA</a:t>
            </a:r>
            <a:br/>
            <a:r>
              <a:t>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Frontend</a:t>
            </a:r>
            <a:br/>
            <a:r>
              <a:t>UI, карточки, корзина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1371600"/>
            <a:ext cx="25603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33088" y="1463040"/>
            <a:ext cx="73152" cy="12801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5087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FastAPI</a:t>
            </a:r>
            <a:br/>
            <a:r>
              <a:t>Python 3.12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10312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Backend</a:t>
            </a:r>
            <a:br/>
            <a:r>
              <a:t>API, персонализация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474720"/>
            <a:ext cx="25603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32688" y="3566160"/>
            <a:ext cx="73152" cy="128016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6118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Elasticsearch</a:t>
            </a:r>
            <a:br/>
            <a:r>
              <a:t>8.17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2062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537K docs</a:t>
            </a:r>
            <a:br/>
            <a:r>
              <a:t>BM25, fuzzy, synonyms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0" y="3474720"/>
            <a:ext cx="25603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38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33088" y="3566160"/>
            <a:ext cx="73152" cy="1280160"/>
          </a:xfrm>
          <a:prstGeom prst="rect">
            <a:avLst/>
          </a:prstGeom>
          <a:solidFill>
            <a:srgbClr val="DC38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36118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Redis 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42062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Profiles, cache</a:t>
            </a:r>
            <a:br/>
            <a:r>
              <a:t>events, cart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3474720"/>
            <a:ext cx="25603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33488" y="3566160"/>
            <a:ext cx="73152" cy="128016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0" y="36118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PostgreSQL</a:t>
            </a:r>
            <a:br/>
            <a: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42062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2M contracts</a:t>
            </a:r>
            <a:br/>
            <a:r>
              <a:t>metrics, sessions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1371600"/>
            <a:ext cx="25603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33488" y="1463040"/>
            <a:ext cx="73152" cy="128016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89520" y="15087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Ollama</a:t>
            </a:r>
            <a:br/>
            <a:r>
              <a:t>Qwen 2.5 7B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210312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AI expansion</a:t>
            </a:r>
            <a:br/>
            <a:r>
              <a:t>RAG-поиск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</a:defRPr>
            </a:pPr>
            <a:r>
              <a:t>Caddy (HTTPS, reverse proxy)  |  SonarQube (Quality Gate: OK)  |  Docker Compose  |  32 CPU, 125GB RAM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74720" y="2103120"/>
            <a:ext cx="640080" cy="381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394960" y="2834640"/>
            <a:ext cx="38100" cy="64008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194560" y="2834640"/>
            <a:ext cx="38100" cy="64008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75120" y="2103120"/>
            <a:ext cx="640080" cy="381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675120" y="4206240"/>
            <a:ext cx="640080" cy="381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3935"/>
                </a:solidFill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0116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334059"/>
                </a:solidFill>
              </a:defRPr>
            </a:pPr>
            <a:r>
              <a:t>КЛЮЧЕВЫЕ ИННОВАЦИИ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77240"/>
            <a:ext cx="10698480" cy="3657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143000"/>
            <a:ext cx="4114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4059"/>
                </a:solidFill>
              </a:defRPr>
            </a:pPr>
            <a:r>
              <a:t>Subject Extraction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09728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Морфоанализ pymorphy3 выделяет ПРЕДМЕТ товара из названия. «Ручка» ≠ «тачка с ручкой». Падежи, сокращения, предлоги — всё учтено.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194559"/>
            <a:ext cx="411480" cy="4114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488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4059"/>
                </a:solidFill>
              </a:defRPr>
            </a:pPr>
            <a:r>
              <a:t>Двухрежимный поиск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148839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Short (≤6 символов): prefix по subject.raw. Full: 4 параллельных стратегии (fuzzy + phrase×2 + AND). Оптимальная обработка каждого типа запроса.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46120"/>
            <a:ext cx="411480" cy="41148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2004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4059"/>
                </a:solidFill>
              </a:defRPr>
            </a:pPr>
            <a:r>
              <a:t>Cold Start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20040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4 190 организаций получают персонализацию с первого визита. 2M контрактов → предагрегированные buyer_category_weights → Redis за O(1).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97679"/>
            <a:ext cx="411480" cy="411480"/>
          </a:xfrm>
          <a:prstGeom prst="round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5195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4059"/>
                </a:solidFill>
              </a:defRPr>
            </a:pPr>
            <a:r>
              <a:t>RAG через Ollama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4251959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LLM (Qwen 2.5 7B) + реальные категории из ES индекса. «Медицинские перчатки» → нитриловые, хирургические, латексные. Не галлюцинирует.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349240"/>
            <a:ext cx="411480" cy="411480"/>
          </a:xfrm>
          <a:prstGeom prst="roundRect">
            <a:avLst/>
          </a:prstGeom>
          <a:solidFill>
            <a:srgbClr val="F570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303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4059"/>
                </a:solidFill>
              </a:defRPr>
            </a:pPr>
            <a:r>
              <a:t>Bounce Rate Tracking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530352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Открытие карточки &lt; 3 сек → негативный сигнал quick_return. 5 типов событий с весами (view 2.0, click 3.0, cart 5.0). Temporal decay 0.95/день.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3935"/>
                </a:solidFill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0116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334059"/>
                </a:solidFill>
              </a:defRPr>
            </a:pPr>
            <a:r>
              <a:t>СИГНАЛЫ РАНЖИРОВАНИЯ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77240"/>
            <a:ext cx="10698480" cy="3657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3A047"/>
                </a:solidFill>
              </a:defRPr>
            </a:pPr>
            <a:r>
              <a:t>ПОЗИТИВНЫЕ (повышают позицию)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029200" cy="4572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502920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Совпадение с предметом товара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5740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Subject extraction: поиск «ручка» → товары где ручка = предмет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874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43A047"/>
                </a:solidFill>
              </a:defRPr>
            </a:pPr>
            <a:r>
              <a:t>x5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423160"/>
            <a:ext cx="50292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688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Точная фраза в названии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974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match_phrase slop:1 — «100 листов» выше «500 листов»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5146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43A047"/>
                </a:solidFill>
              </a:defRPr>
            </a:pPr>
            <a:r>
              <a:t>x20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063239"/>
            <a:ext cx="502920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108959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История закупок организации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337559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Cold start из контрактов: школа → бланки, больница → офисная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15467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43A047"/>
                </a:solidFill>
              </a:defRPr>
            </a:pPr>
            <a:r>
              <a:t>x1.05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703320"/>
            <a:ext cx="50292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7490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Добавлен в корзину / избранное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9776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Event cart (вес 5.0) → мгновенный product boost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37947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43A047"/>
                </a:solidFill>
              </a:defRPr>
            </a:pPr>
            <a:r>
              <a:t>x2.0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343400"/>
            <a:ext cx="502920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8912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Просмотр карточки &gt; 3 сек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617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Event view (вес 2.0) — заинтересовался, не bounce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44348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43A047"/>
                </a:solidFill>
              </a:defRPr>
            </a:pPr>
            <a:r>
              <a:t>x1.5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983480"/>
            <a:ext cx="50292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0292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Популярность (кол-во контрактов)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25780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log2p(popularity) — мягкий множитель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50749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43A047"/>
                </a:solidFill>
              </a:defRPr>
            </a:pPr>
            <a:r>
              <a:t>x1-3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53935"/>
                </a:solidFill>
              </a:defRPr>
            </a:pPr>
            <a:r>
              <a:t>НЕГАТИВНЫЕ (понижают / исключают)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1554480"/>
            <a:ext cx="5029200" cy="4572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0" y="1783080"/>
            <a:ext cx="5029200" cy="548640"/>
          </a:xfrm>
          <a:prstGeom prst="rect">
            <a:avLst/>
          </a:prstGeom>
          <a:solidFill>
            <a:srgbClr val="FE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18288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Отрицание в запросе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205740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«не маслянных», «без латексных», «кроме» → must_not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0" y="1874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E53935"/>
                </a:solidFill>
              </a:defRPr>
            </a:pPr>
            <a:r>
              <a:t>Исключ.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423160"/>
            <a:ext cx="50292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0" y="24688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Bounce (&lt; 3 сек на карточке)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26974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Event quick_return — закрыл карточку быстро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0" y="25146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E53935"/>
                </a:solidFill>
              </a:defRPr>
            </a:pPr>
            <a:r>
              <a:t>-сигнал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3063239"/>
            <a:ext cx="5029200" cy="548640"/>
          </a:xfrm>
          <a:prstGeom prst="rect">
            <a:avLst/>
          </a:prstGeom>
          <a:solidFill>
            <a:srgbClr val="FE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0" y="3108959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Слово — атрибут, не предмет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3337559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«тачка с ручкой» → subject=тачка, ручка не предмет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0" y="315467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E53935"/>
                </a:solidFill>
              </a:defRPr>
            </a:pPr>
            <a:r>
              <a:t>x0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0" y="3703320"/>
            <a:ext cx="50292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0" y="37490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Temporal decay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39776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DECAY_FACTOR = 0.95 на каждый день давности события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0" y="37947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E53935"/>
                </a:solidFill>
              </a:defRPr>
            </a:pPr>
            <a:r>
              <a:t>×0.95/д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0" y="4343400"/>
            <a:ext cx="5029200" cy="548640"/>
          </a:xfrm>
          <a:prstGeom prst="rect">
            <a:avLst/>
          </a:prstGeom>
          <a:solidFill>
            <a:srgbClr val="FE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0" y="438912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Историческая vs live-данные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0" y="4617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Контракты из PG дисконтируются ×0.7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41280" y="44348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E53935"/>
                </a:solidFill>
              </a:defRPr>
            </a:pPr>
            <a:r>
              <a:t>×0.7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66666"/>
                </a:solidFill>
              </a:defRPr>
            </a:pPr>
            <a:r>
              <a:t>Формула: Score = BM25(strategies) x Popularity(log2p) x ProductBoost(1-2) x CategoryBoost(1-1.05) + SubjectExact(+15) + SubjectFuzzy(+12)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40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</a:defRPr>
            </a:pPr>
            <a:r>
              <a:t>СПАСИБО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2377440"/>
            <a:ext cx="2743200" cy="36576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</a:defRPr>
            </a:pPr>
            <a:r>
              <a:t>Демо: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926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976D2"/>
                </a:solidFill>
              </a:defRPr>
            </a:pPr>
            <a:r>
              <a:t>tenderhack.extra.moscow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429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</a:defRPr>
            </a:pPr>
            <a:r>
              <a:t>SonarQube: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3429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976D2"/>
                </a:solidFill>
              </a:defRPr>
            </a:pPr>
            <a:r>
              <a:t>tenderhack.extra.moscow/sonar/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931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</a:defRPr>
            </a:pPr>
            <a:r>
              <a:t>GitHub: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931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976D2"/>
                </a:solidFill>
              </a:defRPr>
            </a:pPr>
            <a:r>
              <a:t>github.com/Shadowru/tenderhack2026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029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9999"/>
                </a:solidFill>
              </a:defRPr>
            </a:pPr>
            <a:r>
              <a:t>537K товаров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5029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9999"/>
                </a:solidFill>
              </a:defRPr>
            </a:pPr>
            <a:r>
              <a:t>2M контрактов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5029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9999"/>
                </a:solidFill>
              </a:defRPr>
            </a:pPr>
            <a:r>
              <a:t>4190 профилей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5029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9999"/>
                </a:solidFill>
              </a:defRPr>
            </a:pPr>
            <a:r>
              <a:t>93% качество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5029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9999"/>
                </a:solidFill>
              </a:defRPr>
            </a:pPr>
            <a:r>
              <a:t>30мс ответ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</a:defRPr>
            </a:pPr>
            <a:r>
              <a:t>TenderHack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